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3" r:id="rId4"/>
    <p:sldMasterId id="2147483721" r:id="rId5"/>
  </p:sldMasterIdLst>
  <p:notesMasterIdLst>
    <p:notesMasterId r:id="rId56"/>
  </p:notesMasterIdLst>
  <p:handoutMasterIdLst>
    <p:handoutMasterId r:id="rId57"/>
  </p:handoutMasterIdLst>
  <p:sldIdLst>
    <p:sldId id="320" r:id="rId6"/>
    <p:sldId id="2147478035" r:id="rId7"/>
    <p:sldId id="256" r:id="rId24"/>
    <p:sldId id="265" r:id="rId28"/>
    <p:sldId id="268" r:id="rId30"/>
    <p:sldId id="267" r:id="rId29"/>
    <p:sldId id="272" r:id="rId32"/>
    <p:sldId id="283" r:id="rId41"/>
    <p:sldId id="285" r:id="rId42"/>
    <p:sldId id="288" r:id="rId45"/>
    <p:sldId id="293" r:id="rId48"/>
    <p:sldId id="291" r:id="rId49"/>
    <p:sldId id="294" r:id="rId50"/>
    <p:sldId id="299" r:id="rId52"/>
    <p:sldId id="300" r:id="rId53"/>
    <p:sldId id="301" r:id="rId54"/>
    <p:sldId id="2147478036" r:id="rId27"/>
    <p:sldId id="302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8AB93D-6982-26D0-E6DC-9D364C17B1E9}" name="Elspeth Bloodgood" initials="EB" userId="S::ebloodgood@jhacorp.com::317ad8b1-2366-4c9e-a4a0-17847c87092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5B5C"/>
    <a:srgbClr val="B6BCC0"/>
    <a:srgbClr val="989DA0"/>
    <a:srgbClr val="717476"/>
    <a:srgbClr val="FFF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8"/>
    <p:restoredTop sz="94632"/>
  </p:normalViewPr>
  <p:slideViewPr>
    <p:cSldViewPr snapToGrid="0">
      <p:cViewPr varScale="1">
        <p:scale>
          <a:sx n="137" d="100"/>
          <a:sy n="137" d="100"/>
        </p:scale>
        <p:origin x="74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24" Type="http://schemas.openxmlformats.org/officeDocument/2006/relationships/slide" Target="slides/slide3.xml"/><Relationship Id="rId27" Type="http://schemas.openxmlformats.org/officeDocument/2006/relationships/slide" Target="slides/slide17.xml"/><Relationship Id="rId28" Type="http://schemas.openxmlformats.org/officeDocument/2006/relationships/slide" Target="slides/slide4.xml"/><Relationship Id="rId29" Type="http://schemas.openxmlformats.org/officeDocument/2006/relationships/slide" Target="slides/slide6.xml"/><Relationship Id="rId30" Type="http://schemas.openxmlformats.org/officeDocument/2006/relationships/slide" Target="slides/slide5.xml"/><Relationship Id="rId32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5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8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C0995-BA84-E641-808D-B14AAC7979B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oppi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2C0DA-CD92-A948-862A-61983BE158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1EB5-8C0D-BF41-9A9C-F657F79F7948}" type="datetimeFigureOut">
              <a:rPr lang="en-US" smtClean="0">
                <a:latin typeface="Poppins" pitchFamily="2" charset="77"/>
              </a:rPr>
              <a:t>8/17/26</a:t>
            </a:fld>
            <a:endParaRPr lang="en-US">
              <a:latin typeface="Poppi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A3C51-78BC-EF4F-9CBC-A01E8D2DEE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oppi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FA5E9-C0E7-0A4A-A724-632C8BE4FC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B7F71-8061-0540-BB19-400EB4D3B74A}" type="slidenum">
              <a:rPr lang="en-US" smtClean="0">
                <a:latin typeface="Poppins" pitchFamily="2" charset="77"/>
              </a:rPr>
              <a:t>‹#›</a:t>
            </a:fld>
            <a:endParaRPr lang="en-US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989358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6AAEB68E-D35B-364A-A3FB-395B9FB39F5B}" type="datetimeFigureOut">
              <a:rPr lang="en-US" smtClean="0"/>
              <a:pPr/>
              <a:t>8/14/26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D1D8D5B6-4846-8944-AC25-72B4589C2E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Option 2 – Slide 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8D5B6-4846-8944-AC25-72B4589C2E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2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C986D-3D28-98F2-A424-5E18A8E0A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C641B-02C5-B44A-9FB3-87CB03B07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0CD494-902D-2F61-88F8-E9B052C62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C26BB-3A84-9C66-0FF4-537008753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40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c33d6b7e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2" name="Google Shape;542;g3ec33d6b7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96b0aff34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d96b0aff34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d96b0aff34_0_8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g3d96b0aff34_0_8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e1e70c4d6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e1e70c4d66_0_2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g3e1e70c4d66_0_2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df3e8e150_0_10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3cdf3e8e150_0_10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g3cdf3e8e150_0_10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5" name="Google Shape;1045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e1e70c4d66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e1e70c4d66_0_6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g3e1e70c4d66_0_6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e1e70c4d66_0_5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e1e70c4d66_0_5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g3e1e70c4d66_0_5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cdf3e8e150_0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3cdf3e8e150_0_10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g3cdf3e8e150_0_10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e1e70c4d66_0_6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e1e70c4d66_0_6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g3e1e70c4d66_0_6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ca5c3ee3ca_0_3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3ca5c3ee3ca_0_35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g3ca5c3ee3ca_0_35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eac7b23b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6" name="Google Shape;1276;g3eac7b23b0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7" name="Google Shape;1277;g3eac7b23b0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eac7b23b06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8" name="Google Shape;1298;g3eac7b23b06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g3eac7b23b06_0_303:notes"/>
          <p:cNvSpPr txBox="1">
            <a:spLocks noGrp="1"/>
          </p:cNvSpPr>
          <p:nvPr>
            <p:ph type="sldNum" idx="12"/>
          </p:nvPr>
        </p:nvSpPr>
        <p:spPr>
          <a:xfrm>
            <a:off x="3884613" y="8685610"/>
            <a:ext cx="29718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eac7b23b06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3eac7b23b06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e385c1e782_1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9" name="Google Shape;1349;g3e385c1e782_1_5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First – as with any strategy - you must </a:t>
            </a:r>
            <a:r>
              <a:rPr lang="en-US" b="1"/>
              <a:t>understand what you’re trying to accomplish</a:t>
            </a:r>
            <a:r>
              <a:rPr lang="en-US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Responsible – Have </a:t>
            </a:r>
            <a:r>
              <a:rPr lang="en-US" b="1"/>
              <a:t>strong ethics</a:t>
            </a:r>
            <a:r>
              <a:rPr lang="en-US"/>
              <a:t>, </a:t>
            </a:r>
            <a:r>
              <a:rPr lang="en-US" b="1"/>
              <a:t>avoid harming </a:t>
            </a:r>
            <a:r>
              <a:rPr lang="en-US"/>
              <a:t>anyone, </a:t>
            </a:r>
            <a:r>
              <a:rPr lang="en-US" b="1"/>
              <a:t>Comply with laws and regs</a:t>
            </a:r>
            <a:r>
              <a:rPr lang="en-US"/>
              <a:t>, </a:t>
            </a:r>
            <a:r>
              <a:rPr lang="en-US" b="1"/>
              <a:t>maintain our reputation</a:t>
            </a:r>
            <a:r>
              <a:rPr lang="en-US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Bold – Our customers look to us to </a:t>
            </a:r>
            <a:r>
              <a:rPr lang="en-US" b="1"/>
              <a:t>position them to compete with other institutions</a:t>
            </a:r>
            <a:r>
              <a:rPr lang="en-US"/>
              <a:t>, many of which have almost limitless resources. That means we must position them to be </a:t>
            </a:r>
            <a:r>
              <a:rPr lang="en-US" b="1"/>
              <a:t>ready for the future</a:t>
            </a:r>
            <a:r>
              <a:rPr lang="en-US"/>
              <a:t>, to </a:t>
            </a:r>
            <a:r>
              <a:rPr lang="en-US" b="1"/>
              <a:t>solve</a:t>
            </a:r>
            <a:r>
              <a:rPr lang="en-US"/>
              <a:t> their customers </a:t>
            </a:r>
            <a:r>
              <a:rPr lang="en-US" b="1"/>
              <a:t>problems</a:t>
            </a:r>
            <a:r>
              <a:rPr lang="en-US"/>
              <a:t>, and to always be driving toward excellence.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Balanced – There is a lot </a:t>
            </a:r>
            <a:r>
              <a:rPr lang="en-US" b="1"/>
              <a:t>of complexity</a:t>
            </a:r>
            <a:r>
              <a:rPr lang="en-US"/>
              <a:t>, many options, being balanced gives us </a:t>
            </a:r>
            <a:r>
              <a:rPr lang="en-US" b="1"/>
              <a:t>optionality, flexibility and adaptability</a:t>
            </a:r>
            <a:r>
              <a:rPr lang="en-US"/>
              <a:t>. As with so many other things in life, </a:t>
            </a:r>
            <a:r>
              <a:rPr lang="en-US" b="1"/>
              <a:t>balance promotes long-term sustainability</a:t>
            </a:r>
            <a:r>
              <a:rPr lang="en-US"/>
              <a:t>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0" name="Google Shape;1350;g3e385c1e782_1_5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ED530C11-6BAF-594E-8B89-AC45819CAE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581" y="2642791"/>
            <a:ext cx="11031988" cy="1226342"/>
          </a:xfrm>
        </p:spPr>
        <p:txBody>
          <a:bodyPr anchor="b"/>
          <a:lstStyle>
            <a:lvl1pPr algn="ctr"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45769" y="528873"/>
            <a:ext cx="2660650" cy="2913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194FAB9-9383-A84C-B947-0A4B4C53B8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5788" y="431649"/>
            <a:ext cx="3024187" cy="4857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type of presentation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B303D2-B2C3-BE81-B50E-76CD0EED4BF2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1AD6A0-ACBB-79BF-7ECC-4FE52E70DFB7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89000"/>
                  </a:schemeClr>
                </a:gs>
                <a:gs pos="98000">
                  <a:schemeClr val="tx2">
                    <a:alpha val="89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28ACDC-88A8-730B-8A94-1BA003DFD877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613F88-B634-4C67-B7FE-498DDE13E6F7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507C99-20DC-84ED-FF3C-9C5000790FBE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F70ADC-E5E9-1AED-A0F3-E1F0F811C6AB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4B7F2A-3799-EA27-7E4A-F183670090D9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612F93-1408-232F-479F-2CB5429A79EA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2DABBC2-806E-2732-8E8E-6DDB5D5675D4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5852FC9-422A-F62D-D21E-39B66B3C3355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E0B46FC-03FA-2319-ACBD-DCC00E4D02EC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D2A9D0C-6307-80F4-FCAA-ADFBBBD1E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8083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1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ED530C11-6BAF-594E-8B89-AC45819CAE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581" y="2380020"/>
            <a:ext cx="11031988" cy="1226342"/>
          </a:xfrm>
        </p:spPr>
        <p:txBody>
          <a:bodyPr anchor="b"/>
          <a:lstStyle>
            <a:lvl1pPr algn="ctr"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45769" y="528873"/>
            <a:ext cx="2660650" cy="2913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A293-CBE9-6646-8307-167B703444D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85788" y="3852989"/>
            <a:ext cx="11031537" cy="60007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This Is A Placeholder Sub-head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3C2C76-2A3F-9549-98EF-5BA39785A0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5788" y="431649"/>
            <a:ext cx="3024187" cy="4857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type of presentation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6CA409F-5E09-E5A8-62F3-D71E4DF51D66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4513C8-B3F5-A041-9C7E-ACB1C01DDAED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89000"/>
                  </a:schemeClr>
                </a:gs>
                <a:gs pos="98000">
                  <a:schemeClr val="tx2">
                    <a:alpha val="89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38FA040-77B3-126B-DFCE-444601E77C4E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ECEBD5-19D9-1349-C713-91B185AD9C7A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1129172-716A-80A0-2756-CD36F5ACD597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EB5CAC-6066-9806-C699-B05E31AABAEF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A5B315-C000-4CCC-2376-EC26C812D647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18ADD8-BED7-14E8-9A8D-B974CAA43585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7125EE-F39D-50A3-3016-F8B37BBF880B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B1BD6F0-5B3E-C5DF-A12D-933F8A83AD21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95779D6-C81A-C148-9BEA-275972D83F38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FA51329-877A-4E03-E349-8E40B2323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800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23EBFA59-7518-104F-8B2D-63E95F03F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7721" y="498439"/>
            <a:ext cx="5320724" cy="5320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70" y="2349492"/>
            <a:ext cx="7491147" cy="1945566"/>
          </a:xfrm>
        </p:spPr>
        <p:txBody>
          <a:bodyPr anchor="b"/>
          <a:lstStyle>
            <a:lvl1pPr indent="0" algn="l">
              <a:lnSpc>
                <a:spcPct val="8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C921C9A-5A51-9E4D-8810-69EB46D314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56864" y="498439"/>
            <a:ext cx="5323162" cy="532072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F1D8FBD3-4044-3044-951E-0479503C9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581" y="406996"/>
            <a:ext cx="3449556" cy="457200"/>
          </a:xfrm>
          <a:prstGeom prst="rect">
            <a:avLst/>
          </a:prstGeom>
        </p:spPr>
        <p:txBody>
          <a:bodyPr/>
          <a:lstStyle>
            <a:lvl2pPr marL="0" indent="0">
              <a:buFontTx/>
              <a:buNone/>
              <a:defRPr sz="2400">
                <a:solidFill>
                  <a:schemeClr val="tx1"/>
                </a:solidFill>
                <a:latin typeface="Playfair Display" pitchFamily="2" charset="77"/>
              </a:defRPr>
            </a:lvl2pPr>
          </a:lstStyle>
          <a:p>
            <a:pPr lvl="1"/>
            <a:r>
              <a:rPr lang="en-US"/>
              <a:t>type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13770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23EBFA59-7518-104F-8B2D-63E95F03F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74075" y="947854"/>
            <a:ext cx="4944370" cy="4944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971" y="2091825"/>
            <a:ext cx="7204404" cy="1945566"/>
          </a:xfrm>
        </p:spPr>
        <p:txBody>
          <a:bodyPr anchor="b"/>
          <a:lstStyle>
            <a:lvl1pPr indent="0" algn="l"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name text</a:t>
            </a:r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250EE86D-69A3-8748-A019-6F5377C3D66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516704" y="446856"/>
            <a:ext cx="1277766" cy="2492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spc="3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C921C9A-5A51-9E4D-8810-69EB46D314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33390" y="947854"/>
            <a:ext cx="4946635" cy="4944369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7A643-FF1E-9C4C-8B1B-B5798F070D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78" y="4133609"/>
            <a:ext cx="7204075" cy="9461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 Sub-heading for Presentation 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8D45E3A1-DE41-A94F-BF6A-ED61CD7860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9971" y="571500"/>
            <a:ext cx="1790300" cy="47983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74FFA8D-95BA-144E-874F-ED987C7E7A4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74253" y="430662"/>
            <a:ext cx="2492374" cy="265479"/>
          </a:xfrm>
        </p:spPr>
        <p:txBody>
          <a:bodyPr/>
          <a:lstStyle>
            <a:lvl1pPr algn="r">
              <a:defRPr sz="1400" b="1" i="0">
                <a:latin typeface="Poppins" pitchFamily="2" charset="77"/>
                <a:cs typeface="Poppins" pitchFamily="2" charset="77"/>
              </a:defRPr>
            </a:lvl1pPr>
            <a:lvl2pPr>
              <a:defRPr sz="1400" b="1" i="0">
                <a:latin typeface="Poppins" pitchFamily="2" charset="77"/>
                <a:cs typeface="Poppins" pitchFamily="2" charset="77"/>
              </a:defRPr>
            </a:lvl2pPr>
            <a:lvl3pPr>
              <a:defRPr sz="1400" b="1" i="0">
                <a:latin typeface="Poppins" pitchFamily="2" charset="77"/>
                <a:cs typeface="Poppins" pitchFamily="2" charset="77"/>
              </a:defRPr>
            </a:lvl3pPr>
            <a:lvl4pPr>
              <a:defRPr sz="1400" b="1" i="0">
                <a:latin typeface="Poppins" pitchFamily="2" charset="77"/>
                <a:cs typeface="Poppins" pitchFamily="2" charset="77"/>
              </a:defRPr>
            </a:lvl4pPr>
            <a:lvl5pPr>
              <a:defRPr sz="1400" b="1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type of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EC5E34-D355-AD48-B3C5-726B98AA048F}"/>
              </a:ext>
            </a:extLst>
          </p:cNvPr>
          <p:cNvCxnSpPr>
            <a:cxnSpLocks/>
          </p:cNvCxnSpPr>
          <p:nvPr userDrawn="1"/>
        </p:nvCxnSpPr>
        <p:spPr>
          <a:xfrm>
            <a:off x="10341701" y="446856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546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EA52-8D63-464F-9676-1D07BC84C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581" y="2412112"/>
            <a:ext cx="4869646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contents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5B925D-BCBF-3845-8A90-C3E400614271}"/>
              </a:ext>
            </a:extLst>
          </p:cNvPr>
          <p:cNvGrpSpPr/>
          <p:nvPr userDrawn="1"/>
        </p:nvGrpSpPr>
        <p:grpSpPr>
          <a:xfrm>
            <a:off x="-35861" y="-293567"/>
            <a:ext cx="12227861" cy="6407497"/>
            <a:chOff x="-1771472" y="0"/>
            <a:chExt cx="15447317" cy="809451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2D4716-BA92-904E-9CEF-19925343FD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52187" y="0"/>
              <a:ext cx="0" cy="809451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408047-4D1C-5E46-9E2B-2A175BDB2551}"/>
                </a:ext>
              </a:extLst>
            </p:cNvPr>
            <p:cNvSpPr/>
            <p:nvPr userDrawn="1"/>
          </p:nvSpPr>
          <p:spPr>
            <a:xfrm>
              <a:off x="-1771472" y="370860"/>
              <a:ext cx="7723658" cy="772365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Playfair Display" pitchFamily="2" charset="77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65BECB-87AC-844C-AFE4-82C787D1B58B}"/>
                </a:ext>
              </a:extLst>
            </p:cNvPr>
            <p:cNvSpPr/>
            <p:nvPr userDrawn="1"/>
          </p:nvSpPr>
          <p:spPr>
            <a:xfrm>
              <a:off x="5952187" y="370860"/>
              <a:ext cx="7723658" cy="772365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Playfair Display" pitchFamily="2" charset="77"/>
              </a:endParaRPr>
            </a:p>
          </p:txBody>
        </p:sp>
      </p:grp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81587FE-3E1A-1843-94E5-046ACFC5FB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4569" y="1050924"/>
            <a:ext cx="3731732" cy="4756150"/>
          </a:xfrm>
        </p:spPr>
        <p:txBody>
          <a:bodyPr anchor="ctr"/>
          <a:lstStyle>
            <a:lvl1pPr>
              <a:lnSpc>
                <a:spcPct val="100000"/>
              </a:lnSpc>
              <a:defRPr sz="2000" b="0" i="0">
                <a:latin typeface="Playfair Display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Section one here</a:t>
            </a:r>
          </a:p>
          <a:p>
            <a:pPr lvl="0"/>
            <a:r>
              <a:rPr lang="en-US"/>
              <a:t>Another section title here</a:t>
            </a:r>
          </a:p>
          <a:p>
            <a:pPr lvl="0"/>
            <a:r>
              <a:rPr lang="en-US"/>
              <a:t>Placeholder title here</a:t>
            </a:r>
          </a:p>
          <a:p>
            <a:pPr lvl="0"/>
            <a:r>
              <a:rPr lang="en-US"/>
              <a:t>Section four here</a:t>
            </a:r>
          </a:p>
          <a:p>
            <a:pPr lvl="0"/>
            <a:r>
              <a:rPr lang="en-US"/>
              <a:t>This is a short title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51A7F2F2-65A1-C446-9351-CAA3304DE9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6303" y="1050924"/>
            <a:ext cx="605528" cy="4756150"/>
          </a:xfrm>
        </p:spPr>
        <p:txBody>
          <a:bodyPr anchor="ctr"/>
          <a:lstStyle>
            <a:lvl1pPr>
              <a:lnSpc>
                <a:spcPct val="100000"/>
              </a:lnSpc>
              <a:defRPr sz="2000" b="0" i="0">
                <a:latin typeface="Playfair Display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2DFDB-6026-B2DC-D9E6-A201D1AB526B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565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4D65B2FC-1890-F64F-8DA7-892BBE73E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7E3CE8-0F50-C74F-B5FE-8B50F297D1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3826" y="2722750"/>
            <a:ext cx="11224082" cy="1412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5C01ED8-7B1E-8A4A-8D3E-103A5EF0FB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549" y="472188"/>
            <a:ext cx="365760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92490A-7376-97E4-C757-7FCEBB0D6361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A0FE63-D950-DB77-C437-4F43CA7E2AF9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89000"/>
                  </a:schemeClr>
                </a:gs>
                <a:gs pos="98000">
                  <a:schemeClr val="tx2">
                    <a:alpha val="89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4D1F80-8D3B-7EFD-0C91-E23D69BFD15B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687E27-CFEB-FB0C-C163-0E8540104EAF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EB89D9-78B6-41A0-E57E-D97BED2ACD47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33F71B-271E-C096-76C4-05117735E384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06E8D7-4934-1B0D-05F1-7741CF08E7EA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B98C9A-ACBF-D73E-3008-F463687318AC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809CD42-768A-34C8-3267-DF07EC62E775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8E1DB8F-675A-E4BD-E689-B29E1C98672A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182F194-313D-8CCB-2DEF-DA18C6AAF691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1A8138C-49BD-0E50-3948-175A61BE2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20948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D40F48BD-912E-1140-ADC4-9398F9BF80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646" b="2699"/>
          <a:stretch>
            <a:fillRect/>
          </a:stretch>
        </p:blipFill>
        <p:spPr>
          <a:xfrm>
            <a:off x="-40944" y="1"/>
            <a:ext cx="12232944" cy="68522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6AEB8BE-09A8-2245-9C6A-26909CCB6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58995"/>
            <a:ext cx="9144000" cy="1473967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53F158F-40E1-ED48-8479-8F6A64A7F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549" y="472188"/>
            <a:ext cx="365760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582431-2530-C14E-E0D1-B0138E40F04E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F49BA43-1859-9C29-8974-5A41E124C62A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89000"/>
                  </a:schemeClr>
                </a:gs>
                <a:gs pos="98000">
                  <a:schemeClr val="tx2">
                    <a:alpha val="89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7F3C94-C038-FAFF-1244-A43BDDCF5B43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294DE0-08FA-9AD4-6B9B-EF54A790A096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CD824C-5329-C38A-DB05-AE2DEEB8D1CB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0D041C-2855-3327-0228-232D23BEB40C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02640F-2A04-062C-BB52-272760C15AAB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B7D6686-429C-03E4-A588-1AB1540EF60C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69753E1-4383-2FB1-BA6D-9C27185C1E44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2FD6529-6A48-1025-78B1-7BDE51BC17D8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B4771F7-281D-ACFA-2A4C-D8BCD217DB14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B5EE7CB-7B8D-10D5-D6DD-6DC8464F2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508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3D04-EDA8-5943-A570-C95CFCB1F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825" y="1819899"/>
            <a:ext cx="3140227" cy="770418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this is a short headline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E524558-F28E-1048-9951-D23D656A9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638" y="1819899"/>
            <a:ext cx="3140075" cy="787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51790CC9-B816-0A4D-93B3-B11B126FAA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83616" y="1819899"/>
            <a:ext cx="3140075" cy="787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FD41786D-1210-D948-9905-DAF6D28D5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694F76-5479-9C45-8B22-65B5144C7523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18D60-3CD0-0252-0C6E-43A00A00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25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EC99180-6730-C317-8DD0-EDE6FA394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3245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CC9E634-28C9-6FB3-CC9C-DEB250213D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8422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30962-67E9-044A-D1FE-977EF92B74D0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012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 -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13EB0-9657-FA46-87AA-FBCF74727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931" y="1659033"/>
            <a:ext cx="9378779" cy="1075788"/>
          </a:xfrm>
        </p:spPr>
        <p:txBody>
          <a:bodyPr anchor="b">
            <a:normAutofit/>
          </a:bodyPr>
          <a:lstStyle>
            <a:lvl1pPr algn="l">
              <a:defRPr sz="36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this is a statement that should not be longer than two lines.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A0D0D4DC-70C0-564A-A097-5BC099EE28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3242381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0612C432-AC07-FF44-ABD8-2C15854EF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4339" y="3242381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68F50BA-C486-954B-818B-8808A7C89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E8126E-6FDF-C249-8F4E-BF1839949A5C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EA252-1EA9-BAA8-9654-36F349E5C6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931" y="3816357"/>
            <a:ext cx="4117236" cy="1795549"/>
          </a:xfrm>
        </p:spPr>
        <p:txBody>
          <a:bodyPr/>
          <a:lstStyle>
            <a:lvl1pPr marL="0" indent="0" algn="l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D058C86-D833-ADE0-72C6-417E4B358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03269" y="3816357"/>
            <a:ext cx="4117236" cy="1795549"/>
          </a:xfrm>
        </p:spPr>
        <p:txBody>
          <a:bodyPr/>
          <a:lstStyle>
            <a:lvl1pPr marL="0" indent="0" algn="l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ACE02-3A25-8A96-AF2C-63F33F677D52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919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C12F90CA-40AE-074A-AFD5-5DE8F19EA9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198109"/>
            <a:ext cx="4494689" cy="1076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a sub-headline for this section goes here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77BCBEC6-72F3-274A-A153-0F0755AC43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4339" y="2198109"/>
            <a:ext cx="4494688" cy="1076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another placeholder sub-headline goes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0A9F3D91-F615-1A49-8CDE-C0854AAE29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BEFA6A-2BF8-7947-8678-7769FD8B64F8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C97504C-C740-6B68-609E-0CA12ADD83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367" y="3398001"/>
            <a:ext cx="4368606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EF8BFCC-060D-40F5-A6EC-C11FC4A054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14339" y="3398001"/>
            <a:ext cx="4368606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AB272-B95C-8FC6-B330-D92336D10508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3464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7540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2428-A619-5C1C-F3AE-03CC1E8595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35" y="1386774"/>
            <a:ext cx="10993437" cy="447614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29907E-3B5F-FCFA-AC21-F83F90899445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679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5DE1B8-C1B1-8944-88C9-9E8441E8492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2428-A619-5C1C-F3AE-03CC1E859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435" y="1386774"/>
            <a:ext cx="10993437" cy="4512002"/>
          </a:xfrm>
        </p:spPr>
        <p:txBody>
          <a:bodyPr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000" b="0" i="0">
                <a:latin typeface="Poppins" pitchFamily="2" charset="77"/>
                <a:cs typeface="Poppins" pitchFamily="2" charset="77"/>
              </a:defRPr>
            </a:lvl1pPr>
            <a:lvl2pPr marL="8001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2001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800" b="0" i="0">
                <a:latin typeface="Poppins" pitchFamily="2" charset="77"/>
                <a:cs typeface="Poppins" pitchFamily="2" charset="77"/>
              </a:defRPr>
            </a:lvl3pPr>
            <a:lvl4pPr marL="16573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latin typeface="Poppins" pitchFamily="2" charset="77"/>
                <a:cs typeface="Poppins" pitchFamily="2" charset="77"/>
              </a:defRPr>
            </a:lvl4pPr>
            <a:lvl5pPr marL="21145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387D53-F377-84E2-FA89-99AF3EF9DA94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25531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 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5DE1B8-C1B1-8944-88C9-9E8441E8492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A50722-3D26-A298-355C-3D0AF1AC9C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35" y="1386774"/>
            <a:ext cx="4971052" cy="445821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33ECA68-ABF4-33C6-EB71-C1F26EC672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1322" y="1386774"/>
            <a:ext cx="4971052" cy="445821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8A8C1-CB68-7450-4EB1-126F97EE9C10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6817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nten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2CED519-556B-8945-BA98-47522C80C43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36331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6343E5ED-3D24-BA4B-A1DA-F11AC47E231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08568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D6808660-8298-5248-A842-6DDB14AAF6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670414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16105CA1-8942-2F49-901B-EED93BE5D8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2304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AB771898-84CD-B747-BB93-4CD311816D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0067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6D85221-EC14-AF4E-824D-867E9B357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610DB6-7278-D04D-AD96-43621A4621E3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8FFBEA-C996-BD53-3DD0-8D3A30188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25" y="3577296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0431D-E260-9BCF-30D2-1382B74016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2304" y="3588028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D2FED07-CCBC-9E21-D0E2-4CA8287DE4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90067" y="3588028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8F288-E083-2E52-0E74-C5A533438BFF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5179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626D82-11F2-7346-9BC1-739C46F0CF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6465888" cy="611392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22D1F095-9BF1-0949-8BD7-D5177A98F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2056985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679EEBA-7BD6-564F-B724-50A58F3906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576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5E3A-1877-A930-932A-B05B23A1F4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67" y="2623502"/>
            <a:ext cx="4278454" cy="3063062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C8F5A7-525D-C58C-FA3D-A5D7779CD44C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8482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22D1F095-9BF1-0949-8BD7-D5177A98F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2593363"/>
            <a:ext cx="477457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679EEBA-7BD6-564F-B724-50A58F3906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94724D-5BE1-A148-8FDA-0E32A4BA548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5E3A-1877-A930-932A-B05B23A1F4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67" y="3915257"/>
            <a:ext cx="4774570" cy="1715638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000.000.000</a:t>
            </a:r>
          </a:p>
          <a:p>
            <a:pPr lvl="0"/>
            <a:r>
              <a:rPr lang="en-US" err="1"/>
              <a:t>email@jackhenry.com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9AE57-A96D-3573-6CC2-D6AD1856BC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029200" y="0"/>
            <a:ext cx="7162800" cy="6131859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D386E4-6C5B-758D-EA73-A4293CDF83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367" y="3194564"/>
            <a:ext cx="4774570" cy="50043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800" b="0" i="0">
                <a:solidFill>
                  <a:schemeClr val="tx2"/>
                </a:solidFill>
                <a:latin typeface="+mn-lt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9D82899-61B3-99D7-72A5-DA2E21D3BAD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52960" y="929388"/>
            <a:ext cx="4315279" cy="4315279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851C70-2C19-6087-5098-7741868BC5F3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2535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591680"/>
            <a:ext cx="5892445" cy="68907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C995DF-B72D-97D1-C3CF-8F7218EDC1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3489" y="574127"/>
            <a:ext cx="5458511" cy="5413249"/>
          </a:xfrm>
          <a:custGeom>
            <a:avLst/>
            <a:gdLst>
              <a:gd name="connsiteX0" fmla="*/ 5051709 w 5458511"/>
              <a:gd name="connsiteY0" fmla="*/ 0 h 5413249"/>
              <a:gd name="connsiteX1" fmla="*/ 5458511 w 5458511"/>
              <a:gd name="connsiteY1" fmla="*/ 0 h 5413249"/>
              <a:gd name="connsiteX2" fmla="*/ 5458511 w 5458511"/>
              <a:gd name="connsiteY2" fmla="*/ 8629 h 5413249"/>
              <a:gd name="connsiteX3" fmla="*/ 5458511 w 5458511"/>
              <a:gd name="connsiteY3" fmla="*/ 5413249 h 5413249"/>
              <a:gd name="connsiteX4" fmla="*/ 5051709 w 5458511"/>
              <a:gd name="connsiteY4" fmla="*/ 5413249 h 5413249"/>
              <a:gd name="connsiteX5" fmla="*/ 2756735 w 5458511"/>
              <a:gd name="connsiteY5" fmla="*/ 5413249 h 5413249"/>
              <a:gd name="connsiteX6" fmla="*/ 2704271 w 5458511"/>
              <a:gd name="connsiteY6" fmla="*/ 5413249 h 5413249"/>
              <a:gd name="connsiteX7" fmla="*/ 2696680 w 5458511"/>
              <a:gd name="connsiteY7" fmla="*/ 5413249 h 5413249"/>
              <a:gd name="connsiteX8" fmla="*/ 2696680 w 5458511"/>
              <a:gd name="connsiteY8" fmla="*/ 5412866 h 5413249"/>
              <a:gd name="connsiteX9" fmla="*/ 2427775 w 5458511"/>
              <a:gd name="connsiteY9" fmla="*/ 5399287 h 5413249"/>
              <a:gd name="connsiteX10" fmla="*/ 0 w 5458511"/>
              <a:gd name="connsiteY10" fmla="*/ 2708978 h 5413249"/>
              <a:gd name="connsiteX11" fmla="*/ 2704271 w 5458511"/>
              <a:gd name="connsiteY11" fmla="*/ 4707 h 5413249"/>
              <a:gd name="connsiteX12" fmla="*/ 2730494 w 5458511"/>
              <a:gd name="connsiteY12" fmla="*/ 6031 h 5413249"/>
              <a:gd name="connsiteX13" fmla="*/ 2756735 w 5458511"/>
              <a:gd name="connsiteY13" fmla="*/ 4706 h 5413249"/>
              <a:gd name="connsiteX14" fmla="*/ 5051709 w 5458511"/>
              <a:gd name="connsiteY14" fmla="*/ 4706 h 54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58511" h="5413249">
                <a:moveTo>
                  <a:pt x="5051709" y="0"/>
                </a:moveTo>
                <a:lnTo>
                  <a:pt x="5458511" y="0"/>
                </a:lnTo>
                <a:lnTo>
                  <a:pt x="5458511" y="8629"/>
                </a:lnTo>
                <a:lnTo>
                  <a:pt x="5458511" y="5413249"/>
                </a:lnTo>
                <a:lnTo>
                  <a:pt x="5051709" y="5413249"/>
                </a:lnTo>
                <a:lnTo>
                  <a:pt x="2756735" y="5413249"/>
                </a:lnTo>
                <a:lnTo>
                  <a:pt x="2704271" y="5413249"/>
                </a:lnTo>
                <a:lnTo>
                  <a:pt x="2696680" y="5413249"/>
                </a:lnTo>
                <a:lnTo>
                  <a:pt x="2696680" y="5412866"/>
                </a:lnTo>
                <a:lnTo>
                  <a:pt x="2427775" y="5399287"/>
                </a:lnTo>
                <a:cubicBezTo>
                  <a:pt x="1064130" y="5260802"/>
                  <a:pt x="0" y="4109161"/>
                  <a:pt x="0" y="2708978"/>
                </a:cubicBezTo>
                <a:cubicBezTo>
                  <a:pt x="0" y="1215450"/>
                  <a:pt x="1210743" y="4707"/>
                  <a:pt x="2704271" y="4707"/>
                </a:cubicBezTo>
                <a:lnTo>
                  <a:pt x="2730494" y="6031"/>
                </a:lnTo>
                <a:lnTo>
                  <a:pt x="2756735" y="4706"/>
                </a:lnTo>
                <a:lnTo>
                  <a:pt x="5051709" y="47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7A824-860B-A5BE-B9EA-1615CE4726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366" y="3393456"/>
            <a:ext cx="5110121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23271D-E0A0-15DC-0832-8550977EF6CC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5257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B7253C6-028D-6848-9BA6-8579218967E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5421" y="609355"/>
            <a:ext cx="11055594" cy="52894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AB8855-E4AC-A8FD-7E37-EF050EE59699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1262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1CB6732F-5AB1-7545-9476-0434A5AF84D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23068" y="435769"/>
            <a:ext cx="11345863" cy="55347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D5AAD7-A863-D1ED-0A7A-8D7399674A0C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3884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E6546C4-6CCE-A26B-3BD0-77116A626A5B}"/>
              </a:ext>
            </a:extLst>
          </p:cNvPr>
          <p:cNvSpPr/>
          <p:nvPr userDrawn="1"/>
        </p:nvSpPr>
        <p:spPr>
          <a:xfrm>
            <a:off x="1" y="5987143"/>
            <a:ext cx="12192000" cy="1041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379698"/>
            <a:ext cx="3931920" cy="18288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80%</a:t>
            </a:r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16105CA1-8942-2F49-901B-EED93BE5D8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87718" y="2379698"/>
            <a:ext cx="3931920" cy="18288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213%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9D7FBA-A4B9-484A-B885-FBB4FD1C58AE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rgbClr val="085CE5"/>
              </a:gs>
              <a:gs pos="41000">
                <a:srgbClr val="085CE5">
                  <a:lumMod val="97000"/>
                  <a:lumOff val="3000"/>
                </a:srgbClr>
              </a:gs>
              <a:gs pos="100000">
                <a:srgbClr val="49DD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EF7"/>
              </a:solidFill>
              <a:effectLst/>
              <a:uLnTx/>
              <a:uFillTx/>
              <a:latin typeface="Playfair Display" pitchFamily="2" charset="77"/>
              <a:ea typeface="+mn-ea"/>
              <a:cs typeface="+mn-cs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0B0B5B3-CC1F-664A-BA7F-7D5BFDC0E5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DF4566-695D-1BB5-F5BA-D626EFFE73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366" y="4260016"/>
            <a:ext cx="3931920" cy="1378041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9A8DB33-42CF-8457-6DF7-40B0AB0DCF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73885" y="4260016"/>
            <a:ext cx="3931920" cy="1378041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2E64D8-E9CD-879C-86D7-24BF1C0C6CBA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E0B6FA-709A-885D-0800-6C34F6CDE014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accent6">
                    <a:lumMod val="67000"/>
                    <a:alpha val="88505"/>
                  </a:schemeClr>
                </a:gs>
                <a:gs pos="99000">
                  <a:schemeClr val="bg2">
                    <a:alpha val="90955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56733E-5B68-BF23-FEE7-BACAE73CAD95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C8C229-8782-DF65-C869-A0D3413973F7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2769519-18F4-D938-A0D1-7A49AF78C827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B17443F-67F4-0ABD-4878-F65057E6E74D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E556F7-95B6-A39D-1CC8-287808178F54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762BB38-DCD4-9267-B943-59B5BE695B4C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757AC1B-D574-73D8-2706-46DA8BCD5E46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8B4BCC6-F938-99F4-ABAD-8D86CEEB5E4E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E2E76EC-544A-E4BE-8413-D57E86BF7326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2D8288A-50C0-CE93-26FC-25B9489E0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A11F57C-39F1-53CA-DC45-252DA06DAD5F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886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73B36C3-29F6-E846-92FB-E9104933A8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86000" y="5901134"/>
            <a:ext cx="1950040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000.000.0000</a:t>
            </a:r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0636BAD4-C27D-AC46-B70C-BEEB77558A6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705986" y="5901134"/>
            <a:ext cx="2113423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jackhenry.com</a:t>
            </a:r>
            <a:endParaRPr lang="en-US"/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6E5DF780-F701-9042-9E8D-2F7B83104C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76960" y="5901134"/>
            <a:ext cx="3388107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emailaddress@company.com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0F1148-041B-4048-8513-C018B71822C0}"/>
              </a:ext>
            </a:extLst>
          </p:cNvPr>
          <p:cNvCxnSpPr/>
          <p:nvPr userDrawn="1"/>
        </p:nvCxnSpPr>
        <p:spPr>
          <a:xfrm>
            <a:off x="4276960" y="5906684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4473A2-6FC0-964E-B4F6-C914D0845562}"/>
              </a:ext>
            </a:extLst>
          </p:cNvPr>
          <p:cNvCxnSpPr/>
          <p:nvPr userDrawn="1"/>
        </p:nvCxnSpPr>
        <p:spPr>
          <a:xfrm>
            <a:off x="7729286" y="5944008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D10FA9-4C02-A445-ABDE-7B7A2244EAA1}"/>
              </a:ext>
            </a:extLst>
          </p:cNvPr>
          <p:cNvSpPr txBox="1"/>
          <p:nvPr userDrawn="1"/>
        </p:nvSpPr>
        <p:spPr>
          <a:xfrm>
            <a:off x="3046379" y="6445344"/>
            <a:ext cx="609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>
                <a:solidFill>
                  <a:srgbClr val="B6BCC0"/>
                </a:solidFill>
                <a:effectLst/>
                <a:latin typeface="Poppins" pitchFamily="2" charset="77"/>
                <a:cs typeface="Poppins" pitchFamily="2" charset="77"/>
              </a:rPr>
              <a:t>© 2025 Jack Henry &amp; Associates, Inc.</a:t>
            </a:r>
            <a:r>
              <a:rPr lang="en-US" sz="800" b="0" i="0" baseline="30000">
                <a:solidFill>
                  <a:srgbClr val="B6BCC0"/>
                </a:solidFill>
                <a:effectLst/>
                <a:latin typeface="Poppins" pitchFamily="2" charset="77"/>
                <a:cs typeface="Poppins" pitchFamily="2" charset="77"/>
              </a:rPr>
              <a:t>®</a:t>
            </a:r>
            <a:endParaRPr lang="en-US" sz="800" baseline="30000">
              <a:solidFill>
                <a:srgbClr val="B6BCC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641112-5679-8B46-87D0-17EFEB62FA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4911" y="1875713"/>
            <a:ext cx="6362179" cy="27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678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23A8EA-715A-8D09-1546-364D163E2E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86000" y="5910862"/>
            <a:ext cx="1950040" cy="406800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000.000.000</a:t>
            </a:r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0636BAD4-C27D-AC46-B70C-BEEB77558A6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705986" y="5910862"/>
            <a:ext cx="2113423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jackhenry.com</a:t>
            </a:r>
            <a:endParaRPr lang="en-US"/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6E5DF780-F701-9042-9E8D-2F7B83104C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76960" y="5910862"/>
            <a:ext cx="3388107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emailaddress@company.com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0F1148-041B-4048-8513-C018B71822C0}"/>
              </a:ext>
            </a:extLst>
          </p:cNvPr>
          <p:cNvCxnSpPr/>
          <p:nvPr userDrawn="1"/>
        </p:nvCxnSpPr>
        <p:spPr>
          <a:xfrm>
            <a:off x="4276960" y="5916412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4473A2-6FC0-964E-B4F6-C914D0845562}"/>
              </a:ext>
            </a:extLst>
          </p:cNvPr>
          <p:cNvCxnSpPr/>
          <p:nvPr userDrawn="1"/>
        </p:nvCxnSpPr>
        <p:spPr>
          <a:xfrm>
            <a:off x="7729286" y="5953736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88A588-247D-DF4A-91DC-3173DDEBB982}"/>
              </a:ext>
            </a:extLst>
          </p:cNvPr>
          <p:cNvSpPr txBox="1"/>
          <p:nvPr userDrawn="1"/>
        </p:nvSpPr>
        <p:spPr>
          <a:xfrm>
            <a:off x="3046379" y="6445344"/>
            <a:ext cx="609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>
                <a:solidFill>
                  <a:srgbClr val="989DA0"/>
                </a:solidFill>
                <a:effectLst/>
                <a:latin typeface="Poppins" pitchFamily="2" charset="77"/>
                <a:cs typeface="Poppins" pitchFamily="2" charset="77"/>
              </a:rPr>
              <a:t>© 2025 Jack Henry &amp; Associates, Inc.</a:t>
            </a:r>
            <a:r>
              <a:rPr lang="en-US" sz="800" b="0" i="0" baseline="30000">
                <a:solidFill>
                  <a:srgbClr val="989DA0"/>
                </a:solidFill>
                <a:effectLst/>
                <a:latin typeface="Poppins" pitchFamily="2" charset="77"/>
                <a:cs typeface="Poppins" pitchFamily="2" charset="77"/>
              </a:rPr>
              <a:t>®</a:t>
            </a:r>
            <a:endParaRPr lang="en-US" sz="800" baseline="30000">
              <a:solidFill>
                <a:srgbClr val="989DA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94D09-6B27-484F-BB11-73E34ECF6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133" y="1754363"/>
            <a:ext cx="6751734" cy="28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55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C7C71-A48F-4D35-59FE-39A1916061F0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31761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166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Content Slide - 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09DD838-6BDE-DE4F-8B9E-79CD6F056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652" y="2158223"/>
            <a:ext cx="4714991" cy="2541554"/>
          </a:xfr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this is a short statement placeholder.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5668285-3D4E-E14F-9042-27D5F83F3C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6465888" cy="6096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0F475D-F1B8-3356-BA7B-9A6263B7D013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78ECD2-8BF8-019F-57E2-9C2D6EA41B8A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91926"/>
                  </a:schemeClr>
                </a:gs>
                <a:gs pos="100000">
                  <a:schemeClr val="bg2">
                    <a:alpha val="93908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CBF025-F6E7-FB96-FE95-494E0C586C2F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D30859-DABE-5AE9-96F7-FC3FF1E6FD2E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B93708-C521-C0DC-546C-CE56E97306A0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3D1282-3618-DCA3-186B-1F29463C6E62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AE21B-6FDA-2CF1-16C2-EB9AEE9B14EB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D3488C-5546-46BF-D9C7-9F8F3B239C52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66A50B-EE6B-3063-0DBE-43DABF07A88A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F37B93-E10A-B530-26AD-32EC23CB4213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6347D6-593D-D923-C3AF-28AACEB7419F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594736-2A35-709F-BB82-EF3410BC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483E08C-A167-A6A5-AB1D-772EC6CB7B6A}"/>
              </a:ext>
            </a:extLst>
          </p:cNvPr>
          <p:cNvSpPr txBox="1"/>
          <p:nvPr userDrawn="1"/>
        </p:nvSpPr>
        <p:spPr>
          <a:xfrm>
            <a:off x="11491831" y="6306509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5364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ED530C11-6BAF-594E-8B89-AC45819CAE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581" y="2642791"/>
            <a:ext cx="11031988" cy="1226342"/>
          </a:xfrm>
        </p:spPr>
        <p:txBody>
          <a:bodyPr anchor="b"/>
          <a:lstStyle>
            <a:lvl1pPr algn="ctr"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45769" y="528873"/>
            <a:ext cx="2660650" cy="2913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194FAB9-9383-A84C-B947-0A4B4C53B8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5788" y="431649"/>
            <a:ext cx="3024187" cy="4857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type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6585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1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ED530C11-6BAF-594E-8B89-AC45819CAE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581" y="2851190"/>
            <a:ext cx="11031988" cy="1226342"/>
          </a:xfrm>
        </p:spPr>
        <p:txBody>
          <a:bodyPr anchor="b"/>
          <a:lstStyle>
            <a:lvl1pPr algn="ctr">
              <a:defRPr sz="84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945769" y="528873"/>
            <a:ext cx="2660650" cy="29132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A293-CBE9-6646-8307-167B703444D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85788" y="4324159"/>
            <a:ext cx="11031537" cy="60007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This Is A Placeholder Sub-head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3C2C76-2A3F-9549-98EF-5BA39785A0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85788" y="431649"/>
            <a:ext cx="3024187" cy="4857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type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285826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23EBFA59-7518-104F-8B2D-63E95F03F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7721" y="864196"/>
            <a:ext cx="5320724" cy="5320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370" y="2690151"/>
            <a:ext cx="7491147" cy="1945566"/>
          </a:xfrm>
        </p:spPr>
        <p:txBody>
          <a:bodyPr anchor="b"/>
          <a:lstStyle>
            <a:lvl1pPr indent="0" algn="l">
              <a:lnSpc>
                <a:spcPct val="8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name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C921C9A-5A51-9E4D-8810-69EB46D314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56864" y="864196"/>
            <a:ext cx="5323162" cy="532072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F1D8FBD3-4044-3044-951E-0479503C9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581" y="406996"/>
            <a:ext cx="3449556" cy="457200"/>
          </a:xfrm>
          <a:prstGeom prst="rect">
            <a:avLst/>
          </a:prstGeom>
        </p:spPr>
        <p:txBody>
          <a:bodyPr/>
          <a:lstStyle>
            <a:lvl2pPr marL="0" indent="0">
              <a:buFontTx/>
              <a:buNone/>
              <a:defRPr sz="2400">
                <a:solidFill>
                  <a:schemeClr val="tx1"/>
                </a:solidFill>
                <a:latin typeface="Playfair Display" pitchFamily="2" charset="77"/>
              </a:defRPr>
            </a:lvl2pPr>
          </a:lstStyle>
          <a:p>
            <a:pPr lvl="1"/>
            <a:r>
              <a:rPr lang="en-US"/>
              <a:t>type of 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16219E-E6A3-47C8-BFE0-13C970F1CD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326" y="5829075"/>
            <a:ext cx="2418098" cy="10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933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23EBFA59-7518-104F-8B2D-63E95F03F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74075" y="1466774"/>
            <a:ext cx="4944370" cy="4944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0C900F-D23A-E943-9846-6A0E463960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971" y="2091825"/>
            <a:ext cx="7204404" cy="1945566"/>
          </a:xfrm>
        </p:spPr>
        <p:txBody>
          <a:bodyPr anchor="b"/>
          <a:lstStyle>
            <a:lvl1pPr indent="0" algn="l"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name text</a:t>
            </a:r>
          </a:p>
        </p:txBody>
      </p:sp>
      <p:sp>
        <p:nvSpPr>
          <p:cNvPr id="7" name="Content Placeholder 20">
            <a:extLst>
              <a:ext uri="{FF2B5EF4-FFF2-40B4-BE49-F238E27FC236}">
                <a16:creationId xmlns:a16="http://schemas.microsoft.com/office/drawing/2014/main" id="{250EE86D-69A3-8748-A019-6F5377C3D66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516704" y="446856"/>
            <a:ext cx="1277766" cy="2492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spc="3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11/19/2021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C921C9A-5A51-9E4D-8810-69EB46D314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33390" y="1466774"/>
            <a:ext cx="4946635" cy="494436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77A643-FF1E-9C4C-8B1B-B5798F070D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78" y="4133609"/>
            <a:ext cx="7204075" cy="9461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A Sub-heading for Presentation 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8D45E3A1-DE41-A94F-BF6A-ED61CD7860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9971" y="571500"/>
            <a:ext cx="1790300" cy="47983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74FFA8D-95BA-144E-874F-ED987C7E7A4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74253" y="430662"/>
            <a:ext cx="2492374" cy="265479"/>
          </a:xfrm>
        </p:spPr>
        <p:txBody>
          <a:bodyPr/>
          <a:lstStyle>
            <a:lvl1pPr algn="r">
              <a:defRPr sz="1400" b="1" i="0">
                <a:latin typeface="Poppins" pitchFamily="2" charset="77"/>
                <a:cs typeface="Poppins" pitchFamily="2" charset="77"/>
              </a:defRPr>
            </a:lvl1pPr>
            <a:lvl2pPr>
              <a:defRPr sz="1400" b="1" i="0">
                <a:latin typeface="Poppins" pitchFamily="2" charset="77"/>
                <a:cs typeface="Poppins" pitchFamily="2" charset="77"/>
              </a:defRPr>
            </a:lvl2pPr>
            <a:lvl3pPr>
              <a:defRPr sz="1400" b="1" i="0">
                <a:latin typeface="Poppins" pitchFamily="2" charset="77"/>
                <a:cs typeface="Poppins" pitchFamily="2" charset="77"/>
              </a:defRPr>
            </a:lvl3pPr>
            <a:lvl4pPr>
              <a:defRPr sz="1400" b="1" i="0">
                <a:latin typeface="Poppins" pitchFamily="2" charset="77"/>
                <a:cs typeface="Poppins" pitchFamily="2" charset="77"/>
              </a:defRPr>
            </a:lvl4pPr>
            <a:lvl5pPr>
              <a:defRPr sz="1400" b="1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type of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EC5E34-D355-AD48-B3C5-726B98AA048F}"/>
              </a:ext>
            </a:extLst>
          </p:cNvPr>
          <p:cNvCxnSpPr>
            <a:cxnSpLocks/>
          </p:cNvCxnSpPr>
          <p:nvPr userDrawn="1"/>
        </p:nvCxnSpPr>
        <p:spPr>
          <a:xfrm>
            <a:off x="10341701" y="446856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93B4550-98C2-5F18-F4D3-C344C65415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326" y="5829075"/>
            <a:ext cx="2418098" cy="10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087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EA52-8D63-464F-9676-1D07BC84C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581" y="2555547"/>
            <a:ext cx="4869646" cy="1325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contents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5B925D-BCBF-3845-8A90-C3E400614271}"/>
              </a:ext>
            </a:extLst>
          </p:cNvPr>
          <p:cNvGrpSpPr/>
          <p:nvPr userDrawn="1"/>
        </p:nvGrpSpPr>
        <p:grpSpPr>
          <a:xfrm>
            <a:off x="-905437" y="-414623"/>
            <a:ext cx="14002873" cy="7337617"/>
            <a:chOff x="-1771472" y="0"/>
            <a:chExt cx="15447317" cy="809451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2D4716-BA92-904E-9CEF-19925343FDD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952187" y="0"/>
              <a:ext cx="0" cy="8094518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408047-4D1C-5E46-9E2B-2A175BDB2551}"/>
                </a:ext>
              </a:extLst>
            </p:cNvPr>
            <p:cNvSpPr/>
            <p:nvPr userDrawn="1"/>
          </p:nvSpPr>
          <p:spPr>
            <a:xfrm>
              <a:off x="-1771472" y="370860"/>
              <a:ext cx="7723658" cy="772365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Playfair Display" pitchFamily="2" charset="77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65BECB-87AC-844C-AFE4-82C787D1B58B}"/>
                </a:ext>
              </a:extLst>
            </p:cNvPr>
            <p:cNvSpPr/>
            <p:nvPr userDrawn="1"/>
          </p:nvSpPr>
          <p:spPr>
            <a:xfrm>
              <a:off x="5952187" y="370860"/>
              <a:ext cx="7723658" cy="772365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Playfair Display" pitchFamily="2" charset="77"/>
              </a:endParaRPr>
            </a:p>
          </p:txBody>
        </p:sp>
      </p:grp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81587FE-3E1A-1843-94E5-046ACFC5FB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54569" y="1050924"/>
            <a:ext cx="3731732" cy="4756150"/>
          </a:xfrm>
        </p:spPr>
        <p:txBody>
          <a:bodyPr anchor="ctr"/>
          <a:lstStyle>
            <a:lvl1pPr>
              <a:lnSpc>
                <a:spcPct val="100000"/>
              </a:lnSpc>
              <a:defRPr sz="2000" b="0" i="0">
                <a:latin typeface="Playfair Display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Section one here</a:t>
            </a:r>
          </a:p>
          <a:p>
            <a:pPr lvl="0"/>
            <a:r>
              <a:rPr lang="en-US"/>
              <a:t>Another section title here</a:t>
            </a:r>
          </a:p>
          <a:p>
            <a:pPr lvl="0"/>
            <a:r>
              <a:rPr lang="en-US"/>
              <a:t>Placeholder title here</a:t>
            </a:r>
          </a:p>
          <a:p>
            <a:pPr lvl="0"/>
            <a:r>
              <a:rPr lang="en-US"/>
              <a:t>Section four here</a:t>
            </a:r>
          </a:p>
          <a:p>
            <a:pPr lvl="0"/>
            <a:r>
              <a:rPr lang="en-US"/>
              <a:t>This is a short title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51A7F2F2-65A1-C446-9351-CAA3304DE9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6303" y="1050924"/>
            <a:ext cx="605528" cy="4756150"/>
          </a:xfrm>
        </p:spPr>
        <p:txBody>
          <a:bodyPr anchor="ctr"/>
          <a:lstStyle>
            <a:lvl1pPr>
              <a:lnSpc>
                <a:spcPct val="100000"/>
              </a:lnSpc>
              <a:defRPr sz="2000" b="0" i="0">
                <a:latin typeface="Playfair Display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AD0DF-0193-96BF-A556-4CBCD4540B68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957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4D65B2FC-1890-F64F-8DA7-892BBE73EA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7E3CE8-0F50-C74F-B5FE-8B50F297D1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3826" y="2722750"/>
            <a:ext cx="11224082" cy="1412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25C01ED8-7B1E-8A4A-8D3E-103A5EF0FB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549" y="472188"/>
            <a:ext cx="365760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</p:spTree>
    <p:extLst>
      <p:ext uri="{BB962C8B-B14F-4D97-AF65-F5344CB8AC3E}">
        <p14:creationId xmlns:p14="http://schemas.microsoft.com/office/powerpoint/2010/main" val="36653132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D40F48BD-912E-1140-ADC4-9398F9BF80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646" b="2699"/>
          <a:stretch>
            <a:fillRect/>
          </a:stretch>
        </p:blipFill>
        <p:spPr>
          <a:xfrm>
            <a:off x="-40944" y="1"/>
            <a:ext cx="12232944" cy="68522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6AEB8BE-09A8-2245-9C6A-26909CCB63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58995"/>
            <a:ext cx="9144000" cy="1473967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intro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53F158F-40E1-ED48-8479-8F6A64A7FD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3549" y="472188"/>
            <a:ext cx="3657600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</p:spTree>
    <p:extLst>
      <p:ext uri="{BB962C8B-B14F-4D97-AF65-F5344CB8AC3E}">
        <p14:creationId xmlns:p14="http://schemas.microsoft.com/office/powerpoint/2010/main" val="23982727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3D04-EDA8-5943-A570-C95CFCB1F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825" y="1819899"/>
            <a:ext cx="3140227" cy="770418"/>
          </a:xfrm>
        </p:spPr>
        <p:txBody>
          <a:bodyPr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this is a short headline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E524558-F28E-1048-9951-D23D656A9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3638" y="1819899"/>
            <a:ext cx="3140075" cy="787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51790CC9-B816-0A4D-93B3-B11B126FAA1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83616" y="1819899"/>
            <a:ext cx="3140075" cy="787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FD41786D-1210-D948-9905-DAF6D28D5E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694F76-5479-9C45-8B22-65B5144C7523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18D60-3CD0-0252-0C6E-43A00A0061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25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EC99180-6730-C317-8DD0-EDE6FA394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3245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CC9E634-28C9-6FB3-CC9C-DEB250213D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8422" y="2871737"/>
            <a:ext cx="3140227" cy="2847746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EB400-05C6-796A-D68A-02F4E5F46C38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8233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 -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13EB0-9657-FA46-87AA-FBCF74727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2931" y="1659033"/>
            <a:ext cx="9378779" cy="1075788"/>
          </a:xfrm>
        </p:spPr>
        <p:txBody>
          <a:bodyPr anchor="b">
            <a:normAutofit/>
          </a:bodyPr>
          <a:lstStyle>
            <a:lvl1pPr algn="l">
              <a:defRPr sz="3600" b="1" i="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/>
              <a:t>this is a statement that should not be longer than two lines.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A0D0D4DC-70C0-564A-A097-5BC099EE28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3242381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0612C432-AC07-FF44-ABD8-2C15854EF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4339" y="3242381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68F50BA-C486-954B-818B-8808A7C89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E8126E-6FDF-C249-8F4E-BF1839949A5C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EA252-1EA9-BAA8-9654-36F349E5C6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931" y="3816357"/>
            <a:ext cx="4117236" cy="1795549"/>
          </a:xfrm>
        </p:spPr>
        <p:txBody>
          <a:bodyPr/>
          <a:lstStyle>
            <a:lvl1pPr marL="0" indent="0" algn="l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D058C86-D833-ADE0-72C6-417E4B3589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03269" y="3816357"/>
            <a:ext cx="4117236" cy="1795549"/>
          </a:xfrm>
        </p:spPr>
        <p:txBody>
          <a:bodyPr/>
          <a:lstStyle>
            <a:lvl1pPr marL="0" indent="0" algn="l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 algn="ctr">
              <a:buClr>
                <a:schemeClr val="tx2"/>
              </a:buClr>
              <a:buNone/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E8B6AE-01D8-4F7D-506B-87CDFAA01164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3454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C12F90CA-40AE-074A-AFD5-5DE8F19EA9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198109"/>
            <a:ext cx="4494689" cy="1076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a sub-headline for this section goes here</a:t>
            </a:r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77BCBEC6-72F3-274A-A153-0F0755AC43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4339" y="2198109"/>
            <a:ext cx="4494688" cy="10762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another placeholder sub-headline goes here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0A9F3D91-F615-1A49-8CDE-C0854AAE29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BEFA6A-2BF8-7947-8678-7769FD8B64F8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C97504C-C740-6B68-609E-0CA12ADD83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367" y="3398001"/>
            <a:ext cx="4368606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EF8BFCC-060D-40F5-A6EC-C11FC4A054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14339" y="3398001"/>
            <a:ext cx="4368606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70DE7-D201-A247-BF51-EA1791CC8B14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90889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891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2428-A619-5C1C-F3AE-03CC1E8595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35" y="1386774"/>
            <a:ext cx="10993437" cy="447614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EE4D5F-CB5B-32C2-1C19-C0F3EF947624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0367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Content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290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2428-A619-5C1C-F3AE-03CC1E8595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435" y="1386774"/>
            <a:ext cx="10993437" cy="4512002"/>
          </a:xfrm>
        </p:spPr>
        <p:txBody>
          <a:bodyPr/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2000" b="0" i="0">
                <a:latin typeface="Poppins" pitchFamily="2" charset="77"/>
                <a:cs typeface="Poppins" pitchFamily="2" charset="77"/>
              </a:defRPr>
            </a:lvl1pPr>
            <a:lvl2pPr marL="8001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2001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800" b="0" i="0">
                <a:latin typeface="Poppins" pitchFamily="2" charset="77"/>
                <a:cs typeface="Poppins" pitchFamily="2" charset="77"/>
              </a:defRPr>
            </a:lvl3pPr>
            <a:lvl4pPr marL="16573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latin typeface="Poppins" pitchFamily="2" charset="77"/>
                <a:cs typeface="Poppins" pitchFamily="2" charset="77"/>
              </a:defRPr>
            </a:lvl4pPr>
            <a:lvl5pPr marL="2114550" indent="-285750">
              <a:buClr>
                <a:schemeClr val="tx2"/>
              </a:buClr>
              <a:buFont typeface="Arial" panose="020B0604020202020204" pitchFamily="34" charset="0"/>
              <a:buChar char="•"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6B594-A1A6-DA6F-97B6-4E1673AF6C50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62765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Bullet 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5F36A373-B0C9-6F44-8D9E-7F355CB8C5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5DE1B8-C1B1-8944-88C9-9E8441E8492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A50722-3D26-A298-355C-3D0AF1AC9C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35" y="1386774"/>
            <a:ext cx="4971052" cy="445821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33ECA68-ABF4-33C6-EB71-C1F26EC672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71322" y="1386774"/>
            <a:ext cx="4971052" cy="4458214"/>
          </a:xfrm>
        </p:spPr>
        <p:txBody>
          <a:bodyPr/>
          <a:lstStyle>
            <a:lvl1pPr marL="342900" indent="-342900">
              <a:buClr>
                <a:schemeClr val="tx2"/>
              </a:buClr>
              <a:buFont typeface="Arial" panose="020B0604020202020204" pitchFamily="34" charset="0"/>
              <a:buChar char="•"/>
              <a:defRPr sz="2000" b="1" i="0">
                <a:latin typeface="Poppins" pitchFamily="2" charset="77"/>
                <a:cs typeface="Poppins" pitchFamily="2" charset="77"/>
              </a:defRPr>
            </a:lvl1pPr>
            <a:lvl2pPr>
              <a:buClr>
                <a:schemeClr val="tx2"/>
              </a:buClr>
              <a:defRPr sz="20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>
              <a:buClr>
                <a:schemeClr val="tx2"/>
              </a:buClr>
              <a:defRPr sz="1800" b="0" i="0">
                <a:latin typeface="Poppins" pitchFamily="2" charset="77"/>
                <a:cs typeface="Poppins" pitchFamily="2" charset="77"/>
              </a:defRPr>
            </a:lvl3pPr>
            <a:lvl4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4pPr>
            <a:lvl5pPr>
              <a:buClr>
                <a:schemeClr val="tx2"/>
              </a:buClr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2044A-D991-E22E-31EB-BBFC1D7B400D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0150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ntent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2CED519-556B-8945-BA98-47522C80C43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536331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6343E5ED-3D24-BA4B-A1DA-F11AC47E231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08568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D6808660-8298-5248-A842-6DDB14AAF6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670414" y="1497988"/>
            <a:ext cx="929351" cy="929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16105CA1-8942-2F49-901B-EED93BE5D8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2304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AB771898-84CD-B747-BB93-4CD311816D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0067" y="3036813"/>
            <a:ext cx="3221878" cy="4441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6D85221-EC14-AF4E-824D-867E9B3573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610DB6-7278-D04D-AD96-43621A4621E3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8FFBEA-C996-BD53-3DD0-8D3A30188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825" y="3577296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0431D-E260-9BCF-30D2-1382B74016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2304" y="3588028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D2FED07-CCBC-9E21-D0E2-4CA8287DE4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90067" y="3588028"/>
            <a:ext cx="3283420" cy="2167313"/>
          </a:xfrm>
        </p:spPr>
        <p:txBody>
          <a:bodyPr/>
          <a:lstStyle>
            <a:lvl1pPr marL="0" indent="0" algn="ctr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742950" indent="-285750" algn="ctr">
              <a:buClr>
                <a:schemeClr val="tx2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 algn="ctr"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 algn="ctr">
              <a:buClr>
                <a:schemeClr val="tx2"/>
              </a:buClr>
              <a:buNone/>
              <a:defRPr sz="16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7F3D7-2E11-13A4-9548-237D5E3F1FE1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89702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626D82-11F2-7346-9BC1-739C46F0CF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6465888" cy="6113929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22D1F095-9BF1-0949-8BD7-D5177A98F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2056985"/>
            <a:ext cx="411480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sub-head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679EEBA-7BD6-564F-B724-50A58F3906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94724D-5BE1-A148-8FDA-0E32A4BA548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5E3A-1877-A930-932A-B05B23A1F4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67" y="2623502"/>
            <a:ext cx="4278454" cy="3063062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8C3C1-E656-6637-F6C0-168D1E581B74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247882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22D1F095-9BF1-0949-8BD7-D5177A98F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7" y="2593363"/>
            <a:ext cx="4774570" cy="4441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E679EEBA-7BD6-564F-B724-50A58F3906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2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94724D-5BE1-A148-8FDA-0E32A4BA5480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41000">
                <a:schemeClr val="accent3">
                  <a:lumMod val="97000"/>
                  <a:lumOff val="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Playfair Display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B5E3A-1877-A930-932A-B05B23A1F4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67" y="3915257"/>
            <a:ext cx="4774570" cy="1715638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000.000.000</a:t>
            </a:r>
          </a:p>
          <a:p>
            <a:pPr lvl="0"/>
            <a:r>
              <a:rPr lang="en-US" err="1"/>
              <a:t>email@jackhenry.com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9AE57-A96D-3573-6CC2-D6AD1856BC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029200" y="0"/>
            <a:ext cx="7162800" cy="6858000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6D386E4-6C5B-758D-EA73-A4293CDF83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367" y="3194564"/>
            <a:ext cx="4774570" cy="50043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800" b="0" i="0">
                <a:solidFill>
                  <a:schemeClr val="tx2"/>
                </a:solidFill>
                <a:latin typeface="+mn-lt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9D82899-61B3-99D7-72A5-DA2E21D3BAD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52960" y="929388"/>
            <a:ext cx="4315279" cy="431527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A64D0B-CD57-AEF8-DAB1-899CC45F60F4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3201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 Slide - 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09DD838-6BDE-DE4F-8B9E-79CD6F056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652" y="2158223"/>
            <a:ext cx="4714991" cy="2541554"/>
          </a:xfr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this is a short statement placeholder.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5668285-3D4E-E14F-9042-27D5F83F3C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6000" y="0"/>
            <a:ext cx="6465888" cy="6096000"/>
          </a:xfrm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0F475D-F1B8-3356-BA7B-9A6263B7D013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78ECD2-8BF8-019F-57E2-9C2D6EA41B8A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91926"/>
                  </a:schemeClr>
                </a:gs>
                <a:gs pos="100000">
                  <a:schemeClr val="bg2">
                    <a:alpha val="93908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3CBF025-F6E7-FB96-FE95-494E0C586C2F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D30859-DABE-5AE9-96F7-FC3FF1E6FD2E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B93708-C521-C0DC-546C-CE56E97306A0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3D1282-3618-DCA3-186B-1F29463C6E62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FAE21B-6FDA-2CF1-16C2-EB9AEE9B14EB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D3488C-5546-46BF-D9C7-9F8F3B239C52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666A50B-EE6B-3063-0DBE-43DABF07A88A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6F37B93-E10A-B530-26AD-32EC23CB4213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6347D6-593D-D923-C3AF-28AACEB7419F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9594736-2A35-709F-BB82-EF3410BC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B74CA72-1498-C4B5-2824-54D63DB7BA2F}"/>
              </a:ext>
            </a:extLst>
          </p:cNvPr>
          <p:cNvSpPr txBox="1"/>
          <p:nvPr userDrawn="1"/>
        </p:nvSpPr>
        <p:spPr>
          <a:xfrm>
            <a:off x="11526233" y="6347500"/>
            <a:ext cx="542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900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US" sz="1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1715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591680"/>
            <a:ext cx="5892445" cy="68907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6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this is a short headline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2C995DF-B72D-97D1-C3CF-8F7218EDC1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3489" y="574127"/>
            <a:ext cx="5458511" cy="5413249"/>
          </a:xfrm>
          <a:custGeom>
            <a:avLst/>
            <a:gdLst>
              <a:gd name="connsiteX0" fmla="*/ 5051709 w 5458511"/>
              <a:gd name="connsiteY0" fmla="*/ 0 h 5413249"/>
              <a:gd name="connsiteX1" fmla="*/ 5458511 w 5458511"/>
              <a:gd name="connsiteY1" fmla="*/ 0 h 5413249"/>
              <a:gd name="connsiteX2" fmla="*/ 5458511 w 5458511"/>
              <a:gd name="connsiteY2" fmla="*/ 8629 h 5413249"/>
              <a:gd name="connsiteX3" fmla="*/ 5458511 w 5458511"/>
              <a:gd name="connsiteY3" fmla="*/ 5413249 h 5413249"/>
              <a:gd name="connsiteX4" fmla="*/ 5051709 w 5458511"/>
              <a:gd name="connsiteY4" fmla="*/ 5413249 h 5413249"/>
              <a:gd name="connsiteX5" fmla="*/ 2756735 w 5458511"/>
              <a:gd name="connsiteY5" fmla="*/ 5413249 h 5413249"/>
              <a:gd name="connsiteX6" fmla="*/ 2704271 w 5458511"/>
              <a:gd name="connsiteY6" fmla="*/ 5413249 h 5413249"/>
              <a:gd name="connsiteX7" fmla="*/ 2696680 w 5458511"/>
              <a:gd name="connsiteY7" fmla="*/ 5413249 h 5413249"/>
              <a:gd name="connsiteX8" fmla="*/ 2696680 w 5458511"/>
              <a:gd name="connsiteY8" fmla="*/ 5412866 h 5413249"/>
              <a:gd name="connsiteX9" fmla="*/ 2427775 w 5458511"/>
              <a:gd name="connsiteY9" fmla="*/ 5399287 h 5413249"/>
              <a:gd name="connsiteX10" fmla="*/ 0 w 5458511"/>
              <a:gd name="connsiteY10" fmla="*/ 2708978 h 5413249"/>
              <a:gd name="connsiteX11" fmla="*/ 2704271 w 5458511"/>
              <a:gd name="connsiteY11" fmla="*/ 4707 h 5413249"/>
              <a:gd name="connsiteX12" fmla="*/ 2730494 w 5458511"/>
              <a:gd name="connsiteY12" fmla="*/ 6031 h 5413249"/>
              <a:gd name="connsiteX13" fmla="*/ 2756735 w 5458511"/>
              <a:gd name="connsiteY13" fmla="*/ 4706 h 5413249"/>
              <a:gd name="connsiteX14" fmla="*/ 5051709 w 5458511"/>
              <a:gd name="connsiteY14" fmla="*/ 4706 h 54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58511" h="5413249">
                <a:moveTo>
                  <a:pt x="5051709" y="0"/>
                </a:moveTo>
                <a:lnTo>
                  <a:pt x="5458511" y="0"/>
                </a:lnTo>
                <a:lnTo>
                  <a:pt x="5458511" y="8629"/>
                </a:lnTo>
                <a:lnTo>
                  <a:pt x="5458511" y="5413249"/>
                </a:lnTo>
                <a:lnTo>
                  <a:pt x="5051709" y="5413249"/>
                </a:lnTo>
                <a:lnTo>
                  <a:pt x="2756735" y="5413249"/>
                </a:lnTo>
                <a:lnTo>
                  <a:pt x="2704271" y="5413249"/>
                </a:lnTo>
                <a:lnTo>
                  <a:pt x="2696680" y="5413249"/>
                </a:lnTo>
                <a:lnTo>
                  <a:pt x="2696680" y="5412866"/>
                </a:lnTo>
                <a:lnTo>
                  <a:pt x="2427775" y="5399287"/>
                </a:lnTo>
                <a:cubicBezTo>
                  <a:pt x="1064130" y="5260802"/>
                  <a:pt x="0" y="4109161"/>
                  <a:pt x="0" y="2708978"/>
                </a:cubicBezTo>
                <a:cubicBezTo>
                  <a:pt x="0" y="1215450"/>
                  <a:pt x="1210743" y="4707"/>
                  <a:pt x="2704271" y="4707"/>
                </a:cubicBezTo>
                <a:lnTo>
                  <a:pt x="2730494" y="6031"/>
                </a:lnTo>
                <a:lnTo>
                  <a:pt x="2756735" y="4706"/>
                </a:lnTo>
                <a:lnTo>
                  <a:pt x="5051709" y="47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7A824-860B-A5BE-B9EA-1615CE4726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366" y="3393456"/>
            <a:ext cx="5110121" cy="2328966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534FF5-75F8-F56C-FB4A-46E403B95A58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34407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B7253C6-028D-6848-9BA6-8579218967E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85421" y="609355"/>
            <a:ext cx="11055594" cy="589902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5A0564-1F67-54F9-546C-55B276D8697C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11885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1CB6732F-5AB1-7545-9476-0434A5AF84D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23068" y="435768"/>
            <a:ext cx="11345863" cy="601881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3E8E8-4F05-E2D2-A6D6-19FE7FAB3691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rgbClr val="585B5C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rgbClr val="585B5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7190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32">
            <a:extLst>
              <a:ext uri="{FF2B5EF4-FFF2-40B4-BE49-F238E27FC236}">
                <a16:creationId xmlns:a16="http://schemas.microsoft.com/office/drawing/2014/main" id="{90084557-C765-3043-8827-AA19AC6CE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366" y="2379698"/>
            <a:ext cx="3931920" cy="18288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80%</a:t>
            </a:r>
          </a:p>
        </p:txBody>
      </p:sp>
      <p:sp>
        <p:nvSpPr>
          <p:cNvPr id="30" name="Text Placeholder 32">
            <a:extLst>
              <a:ext uri="{FF2B5EF4-FFF2-40B4-BE49-F238E27FC236}">
                <a16:creationId xmlns:a16="http://schemas.microsoft.com/office/drawing/2014/main" id="{16105CA1-8942-2F49-901B-EED93BE5D8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87718" y="2379698"/>
            <a:ext cx="3931920" cy="182880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0" b="1" i="0">
                <a:latin typeface="Poppins" pitchFamily="2" charset="77"/>
                <a:cs typeface="Poppins" pitchFamily="2" charset="77"/>
              </a:defRPr>
            </a:lvl1pPr>
            <a:lvl2pPr>
              <a:defRPr sz="2800" b="1" i="0">
                <a:latin typeface="Gellix" pitchFamily="2" charset="77"/>
                <a:cs typeface="Gellix" pitchFamily="2" charset="77"/>
              </a:defRPr>
            </a:lvl2pPr>
            <a:lvl3pPr>
              <a:defRPr sz="2800" b="1" i="0">
                <a:latin typeface="Gellix" pitchFamily="2" charset="77"/>
                <a:cs typeface="Gellix" pitchFamily="2" charset="77"/>
              </a:defRPr>
            </a:lvl3pPr>
            <a:lvl4pPr>
              <a:defRPr sz="2800" b="1" i="0">
                <a:latin typeface="Gellix" pitchFamily="2" charset="77"/>
                <a:cs typeface="Gellix" pitchFamily="2" charset="77"/>
              </a:defRPr>
            </a:lvl4pPr>
            <a:lvl5pPr>
              <a:defRPr sz="2800" b="1" i="0">
                <a:latin typeface="Gellix" pitchFamily="2" charset="77"/>
                <a:cs typeface="Gellix" pitchFamily="2" charset="77"/>
              </a:defRPr>
            </a:lvl5pPr>
          </a:lstStyle>
          <a:p>
            <a:pPr lvl="0"/>
            <a:r>
              <a:rPr lang="en-US"/>
              <a:t>213%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9D7FBA-A4B9-484A-B885-FBB4FD1C58AE}"/>
              </a:ext>
            </a:extLst>
          </p:cNvPr>
          <p:cNvSpPr/>
          <p:nvPr userDrawn="1"/>
        </p:nvSpPr>
        <p:spPr>
          <a:xfrm>
            <a:off x="463825" y="557141"/>
            <a:ext cx="117943" cy="118164"/>
          </a:xfrm>
          <a:prstGeom prst="ellipse">
            <a:avLst/>
          </a:prstGeom>
          <a:gradFill flip="none" rotWithShape="1">
            <a:gsLst>
              <a:gs pos="0">
                <a:srgbClr val="085CE5"/>
              </a:gs>
              <a:gs pos="41000">
                <a:srgbClr val="085CE5">
                  <a:lumMod val="97000"/>
                  <a:lumOff val="3000"/>
                </a:srgbClr>
              </a:gs>
              <a:gs pos="100000">
                <a:srgbClr val="49DDFF"/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EF7"/>
              </a:solidFill>
              <a:effectLst/>
              <a:uLnTx/>
              <a:uFillTx/>
              <a:latin typeface="Playfair Display" pitchFamily="2" charset="77"/>
              <a:ea typeface="+mn-ea"/>
              <a:cs typeface="+mn-cs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0B0B5B3-CC1F-664A-BA7F-7D5BFDC0E5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435" y="472188"/>
            <a:ext cx="3325091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DF4566-695D-1BB5-F5BA-D626EFFE73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366" y="4260016"/>
            <a:ext cx="3931920" cy="1378041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9A8DB33-42CF-8457-6DF7-40B0AB0DCF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73885" y="4260016"/>
            <a:ext cx="3931920" cy="1378041"/>
          </a:xfrm>
        </p:spPr>
        <p:txBody>
          <a:bodyPr/>
          <a:lstStyle>
            <a:lvl1pPr marL="0" indent="0">
              <a:lnSpc>
                <a:spcPct val="150000"/>
              </a:lnSpc>
              <a:buClr>
                <a:schemeClr val="tx2"/>
              </a:buClr>
              <a:buFont typeface="Arial" panose="020B0604020202020204" pitchFamily="34" charset="0"/>
              <a:buNone/>
              <a:defRPr sz="1400" b="0" i="0">
                <a:latin typeface="Poppins" pitchFamily="2" charset="77"/>
                <a:cs typeface="Poppins" pitchFamily="2" charset="77"/>
              </a:defRPr>
            </a:lvl1pPr>
            <a:lvl2pPr marL="457200" indent="0">
              <a:buClr>
                <a:schemeClr val="tx2"/>
              </a:buClr>
              <a:buNone/>
              <a:defRPr sz="1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9144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Clr>
                <a:schemeClr val="tx2"/>
              </a:buClr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adipisicing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766ACE-7A48-7462-A51C-DBBD982DFB10}"/>
              </a:ext>
            </a:extLst>
          </p:cNvPr>
          <p:cNvSpPr txBox="1"/>
          <p:nvPr userDrawn="1"/>
        </p:nvSpPr>
        <p:spPr>
          <a:xfrm>
            <a:off x="11291775" y="6411433"/>
            <a:ext cx="5422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3AC22BC-A2B6-424A-AAD2-6F9BE4B7AA1F}" type="slidenum">
              <a:rPr lang="en-US" sz="1100" smtClean="0">
                <a:solidFill>
                  <a:schemeClr val="tx1"/>
                </a:solidFill>
                <a:latin typeface="+mj-lt"/>
              </a:rPr>
              <a:pPr algn="r"/>
              <a:t>‹#›</a:t>
            </a:fld>
            <a:endParaRPr lang="en-US" sz="2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7990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Opt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73B36C3-29F6-E846-92FB-E9104933A8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86000" y="5901134"/>
            <a:ext cx="1950040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000.000.0000</a:t>
            </a:r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0636BAD4-C27D-AC46-B70C-BEEB77558A6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705986" y="5901134"/>
            <a:ext cx="2113423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jackhenry.com</a:t>
            </a:r>
            <a:endParaRPr lang="en-US"/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6E5DF780-F701-9042-9E8D-2F7B83104C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76960" y="5901134"/>
            <a:ext cx="3388107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emailaddress@company.com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0F1148-041B-4048-8513-C018B71822C0}"/>
              </a:ext>
            </a:extLst>
          </p:cNvPr>
          <p:cNvCxnSpPr/>
          <p:nvPr userDrawn="1"/>
        </p:nvCxnSpPr>
        <p:spPr>
          <a:xfrm>
            <a:off x="4276960" y="5906684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4473A2-6FC0-964E-B4F6-C914D0845562}"/>
              </a:ext>
            </a:extLst>
          </p:cNvPr>
          <p:cNvCxnSpPr/>
          <p:nvPr userDrawn="1"/>
        </p:nvCxnSpPr>
        <p:spPr>
          <a:xfrm>
            <a:off x="7729286" y="5944008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D10FA9-4C02-A445-ABDE-7B7A2244EAA1}"/>
              </a:ext>
            </a:extLst>
          </p:cNvPr>
          <p:cNvSpPr txBox="1"/>
          <p:nvPr userDrawn="1"/>
        </p:nvSpPr>
        <p:spPr>
          <a:xfrm>
            <a:off x="3046379" y="6445344"/>
            <a:ext cx="609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>
                <a:solidFill>
                  <a:srgbClr val="B6BCC0"/>
                </a:solidFill>
                <a:effectLst/>
                <a:latin typeface="Poppins" pitchFamily="2" charset="77"/>
                <a:cs typeface="Poppins" pitchFamily="2" charset="77"/>
              </a:rPr>
              <a:t>© 2025 Jack Henry &amp; Associates, Inc.</a:t>
            </a:r>
            <a:r>
              <a:rPr lang="en-US" sz="800" b="0" i="0" baseline="30000">
                <a:solidFill>
                  <a:srgbClr val="B6BCC0"/>
                </a:solidFill>
                <a:effectLst/>
                <a:latin typeface="Poppins" pitchFamily="2" charset="77"/>
                <a:cs typeface="Poppins" pitchFamily="2" charset="77"/>
              </a:rPr>
              <a:t>®</a:t>
            </a:r>
            <a:endParaRPr lang="en-US" sz="800" baseline="30000">
              <a:solidFill>
                <a:srgbClr val="B6BCC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641112-5679-8B46-87D0-17EFEB62FA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4911" y="1875713"/>
            <a:ext cx="6362179" cy="27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343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23A8EA-715A-8D09-1546-364D163E2E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DE158B-158B-184D-87C8-5A6D2C43AAD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86000" y="5910862"/>
            <a:ext cx="1950040" cy="406800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/>
              <a:t>000.000.000</a:t>
            </a:r>
          </a:p>
        </p:txBody>
      </p:sp>
      <p:sp>
        <p:nvSpPr>
          <p:cNvPr id="11" name="Content Placeholder 20">
            <a:extLst>
              <a:ext uri="{FF2B5EF4-FFF2-40B4-BE49-F238E27FC236}">
                <a16:creationId xmlns:a16="http://schemas.microsoft.com/office/drawing/2014/main" id="{0636BAD4-C27D-AC46-B70C-BEEB77558A6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705986" y="5910862"/>
            <a:ext cx="2113423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jackhenry.com</a:t>
            </a:r>
            <a:endParaRPr lang="en-US"/>
          </a:p>
        </p:txBody>
      </p:sp>
      <p:sp>
        <p:nvSpPr>
          <p:cNvPr id="12" name="Content Placeholder 20">
            <a:extLst>
              <a:ext uri="{FF2B5EF4-FFF2-40B4-BE49-F238E27FC236}">
                <a16:creationId xmlns:a16="http://schemas.microsoft.com/office/drawing/2014/main" id="{6E5DF780-F701-9042-9E8D-2F7B83104C3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76960" y="5910862"/>
            <a:ext cx="3388107" cy="406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0" i="0" spc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err="1"/>
              <a:t>emailaddress@company.com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0F1148-041B-4048-8513-C018B71822C0}"/>
              </a:ext>
            </a:extLst>
          </p:cNvPr>
          <p:cNvCxnSpPr/>
          <p:nvPr userDrawn="1"/>
        </p:nvCxnSpPr>
        <p:spPr>
          <a:xfrm>
            <a:off x="4276960" y="5916412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54473A2-6FC0-964E-B4F6-C914D0845562}"/>
              </a:ext>
            </a:extLst>
          </p:cNvPr>
          <p:cNvCxnSpPr/>
          <p:nvPr userDrawn="1"/>
        </p:nvCxnSpPr>
        <p:spPr>
          <a:xfrm>
            <a:off x="7729286" y="5953736"/>
            <a:ext cx="0" cy="223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288A588-247D-DF4A-91DC-3173DDEBB982}"/>
              </a:ext>
            </a:extLst>
          </p:cNvPr>
          <p:cNvSpPr txBox="1"/>
          <p:nvPr userDrawn="1"/>
        </p:nvSpPr>
        <p:spPr>
          <a:xfrm>
            <a:off x="3046379" y="6445344"/>
            <a:ext cx="609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b="0" i="0">
                <a:solidFill>
                  <a:srgbClr val="989DA0"/>
                </a:solidFill>
                <a:effectLst/>
                <a:latin typeface="Poppins" pitchFamily="2" charset="77"/>
                <a:cs typeface="Poppins" pitchFamily="2" charset="77"/>
              </a:rPr>
              <a:t>© 2025 Jack Henry &amp; Associates, Inc.</a:t>
            </a:r>
            <a:r>
              <a:rPr lang="en-US" sz="800" b="0" i="0" baseline="30000">
                <a:solidFill>
                  <a:srgbClr val="989DA0"/>
                </a:solidFill>
                <a:effectLst/>
                <a:latin typeface="Poppins" pitchFamily="2" charset="77"/>
                <a:cs typeface="Poppins" pitchFamily="2" charset="77"/>
              </a:rPr>
              <a:t>®</a:t>
            </a:r>
            <a:endParaRPr lang="en-US" sz="800" baseline="30000">
              <a:solidFill>
                <a:srgbClr val="989DA0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94D09-6B27-484F-BB11-73E34ECF6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0133" y="1754363"/>
            <a:ext cx="6751734" cy="28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191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8608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4552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 Option 2 1">
  <p:cSld name="Cover Slide Option 2 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97721" y="799522"/>
            <a:ext cx="5320724" cy="532072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6"/>
          <p:cNvSpPr txBox="1">
            <a:spLocks noGrp="1"/>
          </p:cNvSpPr>
          <p:nvPr>
            <p:ph type="ctrTitle"/>
          </p:nvPr>
        </p:nvSpPr>
        <p:spPr>
          <a:xfrm>
            <a:off x="505370" y="2349492"/>
            <a:ext cx="7491000" cy="19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Poppins"/>
              <a:buNone/>
              <a:defRPr sz="8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body" idx="1"/>
          </p:nvPr>
        </p:nvSpPr>
        <p:spPr>
          <a:xfrm>
            <a:off x="4379484" y="5986857"/>
            <a:ext cx="1630200" cy="2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8" name="Google Shape;268;p36"/>
          <p:cNvSpPr>
            <a:spLocks noGrp="1"/>
          </p:cNvSpPr>
          <p:nvPr>
            <p:ph type="pic" idx="2"/>
          </p:nvPr>
        </p:nvSpPr>
        <p:spPr>
          <a:xfrm>
            <a:off x="8156864" y="799522"/>
            <a:ext cx="5323200" cy="53208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9" name="Google Shape;269;p36"/>
          <p:cNvSpPr txBox="1">
            <a:spLocks noGrp="1"/>
          </p:cNvSpPr>
          <p:nvPr>
            <p:ph type="body" idx="3"/>
          </p:nvPr>
        </p:nvSpPr>
        <p:spPr>
          <a:xfrm>
            <a:off x="585581" y="406996"/>
            <a:ext cx="3449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fair Display"/>
              <a:buNone/>
              <a:defRPr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50441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eaker Info">
  <p:cSld name="1_Speaker Inf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525367" y="2593363"/>
            <a:ext cx="47745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664435" y="472188"/>
            <a:ext cx="332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3"/>
          </p:nvPr>
        </p:nvSpPr>
        <p:spPr>
          <a:xfrm>
            <a:off x="525367" y="3915257"/>
            <a:ext cx="4774500" cy="17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5029200" y="0"/>
            <a:ext cx="7162800" cy="61318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>
            <a:spLocks noGrp="1"/>
          </p:cNvSpPr>
          <p:nvPr>
            <p:ph type="body" idx="4"/>
          </p:nvPr>
        </p:nvSpPr>
        <p:spPr>
          <a:xfrm>
            <a:off x="525367" y="3194564"/>
            <a:ext cx="47745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>
            <a:spLocks noGrp="1"/>
          </p:cNvSpPr>
          <p:nvPr>
            <p:ph type="pic" idx="5"/>
          </p:nvPr>
        </p:nvSpPr>
        <p:spPr>
          <a:xfrm>
            <a:off x="6452960" y="929388"/>
            <a:ext cx="4315200" cy="43152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647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Content – Text">
  <p:cSld name="1_Simple Content – 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>
            <a:spLocks noGrp="1"/>
          </p:cNvSpPr>
          <p:nvPr>
            <p:ph type="body" idx="1"/>
          </p:nvPr>
        </p:nvSpPr>
        <p:spPr>
          <a:xfrm>
            <a:off x="664435" y="472188"/>
            <a:ext cx="332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body" idx="2"/>
          </p:nvPr>
        </p:nvSpPr>
        <p:spPr>
          <a:xfrm>
            <a:off x="664435" y="1386774"/>
            <a:ext cx="10993500" cy="4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6971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Content - Bullets">
  <p:cSld name="1_Simple Content - Bullets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>
            <a:spLocks noGrp="1"/>
          </p:cNvSpPr>
          <p:nvPr>
            <p:ph type="body" idx="1"/>
          </p:nvPr>
        </p:nvSpPr>
        <p:spPr>
          <a:xfrm>
            <a:off x="664435" y="472188"/>
            <a:ext cx="332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body" idx="2"/>
          </p:nvPr>
        </p:nvSpPr>
        <p:spPr>
          <a:xfrm>
            <a:off x="664435" y="1386774"/>
            <a:ext cx="10993500" cy="44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1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 b="0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  <a:defRPr sz="1600"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68518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Slide with Photo">
  <p:cSld name="1_Statement Slide with Phot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525366" y="2591680"/>
            <a:ext cx="5892300" cy="6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 b="1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>
            <a:spLocks noGrp="1"/>
          </p:cNvSpPr>
          <p:nvPr>
            <p:ph type="pic" idx="2"/>
          </p:nvPr>
        </p:nvSpPr>
        <p:spPr>
          <a:xfrm>
            <a:off x="6733489" y="574127"/>
            <a:ext cx="5458500" cy="5413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525366" y="3393456"/>
            <a:ext cx="5110200" cy="2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976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Content Slide - Navy">
  <p:cSld name="1_Image Content Slide - Navy">
    <p:bg>
      <p:bgPr>
        <a:solidFill>
          <a:schemeClr val="dk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731652" y="2158223"/>
            <a:ext cx="47151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37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465900" cy="60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3" name="Google Shape;273;p37"/>
          <p:cNvGrpSpPr/>
          <p:nvPr/>
        </p:nvGrpSpPr>
        <p:grpSpPr>
          <a:xfrm>
            <a:off x="0" y="6122487"/>
            <a:ext cx="12192000" cy="600000"/>
            <a:chOff x="0" y="6122487"/>
            <a:chExt cx="12192000" cy="600000"/>
          </a:xfrm>
        </p:grpSpPr>
        <p:sp>
          <p:nvSpPr>
            <p:cNvPr id="274" name="Google Shape;274;p37"/>
            <p:cNvSpPr/>
            <p:nvPr/>
          </p:nvSpPr>
          <p:spPr>
            <a:xfrm>
              <a:off x="0" y="6122487"/>
              <a:ext cx="12192000" cy="600000"/>
            </a:xfrm>
            <a:prstGeom prst="rect">
              <a:avLst/>
            </a:prstGeom>
            <a:gradFill>
              <a:gsLst>
                <a:gs pos="0">
                  <a:srgbClr val="06185F">
                    <a:alpha val="91372"/>
                  </a:srgbClr>
                </a:gs>
                <a:gs pos="100000">
                  <a:srgbClr val="085CE5">
                    <a:alpha val="93333"/>
                  </a:srgbClr>
                </a:gs>
              </a:gsLst>
              <a:lin ang="0" scaled="0"/>
            </a:gradFill>
            <a:ln>
              <a:noFill/>
            </a:ln>
            <a:effectLst>
              <a:outerShdw blurRad="718436" dist="167992" dir="2700000" algn="tl" rotWithShape="0">
                <a:srgbClr val="000000">
                  <a:alpha val="2901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75" name="Google Shape;275;p37"/>
            <p:cNvSpPr txBox="1"/>
            <p:nvPr/>
          </p:nvSpPr>
          <p:spPr>
            <a:xfrm>
              <a:off x="4100373" y="6286861"/>
              <a:ext cx="87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culture</a:t>
              </a:r>
              <a:endParaRPr sz="1400" b="0" i="0" u="none" strike="noStrike" cap="none">
                <a:solidFill>
                  <a:srgbClr val="0618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7"/>
            <p:cNvSpPr txBox="1"/>
            <p:nvPr/>
          </p:nvSpPr>
          <p:spPr>
            <a:xfrm>
              <a:off x="5609241" y="6292116"/>
              <a:ext cx="87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service</a:t>
              </a:r>
              <a:endParaRPr sz="1400" b="0" i="0" u="none" strike="noStrike" cap="none">
                <a:solidFill>
                  <a:srgbClr val="0618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7"/>
            <p:cNvSpPr txBox="1"/>
            <p:nvPr/>
          </p:nvSpPr>
          <p:spPr>
            <a:xfrm>
              <a:off x="7118109" y="6292116"/>
              <a:ext cx="1183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innovation</a:t>
              </a:r>
              <a:endParaRPr sz="1400" b="0" i="0" u="none" strike="noStrike" cap="none">
                <a:solidFill>
                  <a:srgbClr val="0618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37"/>
            <p:cNvSpPr txBox="1"/>
            <p:nvPr/>
          </p:nvSpPr>
          <p:spPr>
            <a:xfrm>
              <a:off x="8934064" y="6292116"/>
              <a:ext cx="975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strategy</a:t>
              </a:r>
              <a:endParaRPr sz="1400" b="0" i="0" u="none" strike="noStrike" cap="none">
                <a:solidFill>
                  <a:srgbClr val="0618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37"/>
            <p:cNvSpPr txBox="1"/>
            <p:nvPr/>
          </p:nvSpPr>
          <p:spPr>
            <a:xfrm>
              <a:off x="10541560" y="6292116"/>
              <a:ext cx="11430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execution</a:t>
              </a:r>
              <a:endParaRPr sz="1400" b="0" i="0" u="none" strike="noStrike" cap="none">
                <a:solidFill>
                  <a:srgbClr val="0618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5248362" y="6388854"/>
              <a:ext cx="87900" cy="8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6785333" y="6388854"/>
              <a:ext cx="87900" cy="8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8575222" y="6388854"/>
              <a:ext cx="87900" cy="8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10204237" y="6388854"/>
              <a:ext cx="87900" cy="87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pic>
        <p:nvPicPr>
          <p:cNvPr id="284" name="Google Shape;284;p37" descr="A black and white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527" y="6174895"/>
            <a:ext cx="1737360" cy="4951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3004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56.xml"/><Relationship Id="rId3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048A7-725C-1B41-B2DD-F6F3E7D7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81" y="2633696"/>
            <a:ext cx="10743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presentation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170A9-BCC4-D74E-A6DC-FC59E202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580" y="304023"/>
            <a:ext cx="5151831" cy="629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46000F-AB24-7422-924E-9398D2E9E8AE}"/>
              </a:ext>
            </a:extLst>
          </p:cNvPr>
          <p:cNvGrpSpPr/>
          <p:nvPr userDrawn="1"/>
        </p:nvGrpSpPr>
        <p:grpSpPr>
          <a:xfrm>
            <a:off x="0" y="5987143"/>
            <a:ext cx="12192000" cy="865075"/>
            <a:chOff x="0" y="5987143"/>
            <a:chExt cx="12192000" cy="86507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52CE23-1A12-1611-DE69-E0DADED546C3}"/>
                </a:ext>
              </a:extLst>
            </p:cNvPr>
            <p:cNvSpPr/>
            <p:nvPr/>
          </p:nvSpPr>
          <p:spPr>
            <a:xfrm>
              <a:off x="0" y="6122487"/>
              <a:ext cx="12192000" cy="600075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89000"/>
                  </a:schemeClr>
                </a:gs>
                <a:gs pos="98000">
                  <a:schemeClr val="tx2">
                    <a:alpha val="89000"/>
                  </a:schemeClr>
                </a:gs>
              </a:gsLst>
              <a:lin ang="0" scaled="1"/>
              <a:tileRect/>
            </a:gradFill>
            <a:ln>
              <a:noFill/>
            </a:ln>
            <a:effectLst>
              <a:outerShdw blurRad="718436" dist="167992" dir="2700000" algn="tl" rotWithShape="0">
                <a:prstClr val="black">
                  <a:alpha val="2948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C0923-04AD-DDA1-E2C1-B7452FD8B9A6}"/>
                </a:ext>
              </a:extLst>
            </p:cNvPr>
            <p:cNvSpPr txBox="1"/>
            <p:nvPr/>
          </p:nvSpPr>
          <p:spPr>
            <a:xfrm>
              <a:off x="4100373" y="6286861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culture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7B0B06-D9BB-A07B-080C-FDF21596B39E}"/>
                </a:ext>
              </a:extLst>
            </p:cNvPr>
            <p:cNvSpPr txBox="1"/>
            <p:nvPr/>
          </p:nvSpPr>
          <p:spPr>
            <a:xfrm>
              <a:off x="5609241" y="6292116"/>
              <a:ext cx="8762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service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886E38-902B-3ADF-6B32-BEBE00502987}"/>
                </a:ext>
              </a:extLst>
            </p:cNvPr>
            <p:cNvSpPr txBox="1"/>
            <p:nvPr/>
          </p:nvSpPr>
          <p:spPr>
            <a:xfrm>
              <a:off x="7118109" y="6292116"/>
              <a:ext cx="11833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innovation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28AC7E-9337-42D7-968B-3A2B3A9B1A3A}"/>
                </a:ext>
              </a:extLst>
            </p:cNvPr>
            <p:cNvSpPr txBox="1"/>
            <p:nvPr/>
          </p:nvSpPr>
          <p:spPr>
            <a:xfrm>
              <a:off x="8934064" y="6292116"/>
              <a:ext cx="9749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strategy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CD8B5A-8B90-F05E-F8A3-03FEDACC9CBB}"/>
                </a:ext>
              </a:extLst>
            </p:cNvPr>
            <p:cNvSpPr txBox="1"/>
            <p:nvPr/>
          </p:nvSpPr>
          <p:spPr>
            <a:xfrm>
              <a:off x="10541560" y="6292116"/>
              <a:ext cx="1143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chemeClr val="bg1"/>
                  </a:solidFill>
                  <a:latin typeface="+mj-lt"/>
                </a:rPr>
                <a:t>execution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40F0586-DA47-12E7-D8FF-2EA3717ADBD7}"/>
                </a:ext>
              </a:extLst>
            </p:cNvPr>
            <p:cNvSpPr/>
            <p:nvPr/>
          </p:nvSpPr>
          <p:spPr>
            <a:xfrm>
              <a:off x="524836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8638B3-9679-E8F4-A94B-8E0A308DB42C}"/>
                </a:ext>
              </a:extLst>
            </p:cNvPr>
            <p:cNvSpPr/>
            <p:nvPr/>
          </p:nvSpPr>
          <p:spPr>
            <a:xfrm>
              <a:off x="6785333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B2AA69F-19C2-C9D0-93EC-443FC933793C}"/>
                </a:ext>
              </a:extLst>
            </p:cNvPr>
            <p:cNvSpPr/>
            <p:nvPr/>
          </p:nvSpPr>
          <p:spPr>
            <a:xfrm>
              <a:off x="8575222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FCD5925-708A-DA69-EB8C-BDF4C3B74C20}"/>
                </a:ext>
              </a:extLst>
            </p:cNvPr>
            <p:cNvSpPr/>
            <p:nvPr/>
          </p:nvSpPr>
          <p:spPr>
            <a:xfrm>
              <a:off x="10204237" y="6388854"/>
              <a:ext cx="87928" cy="87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3F7EDC7-7583-53EA-CB84-C5DD4DDB7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315" y="5987143"/>
              <a:ext cx="2033030" cy="865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000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6" r:id="rId2"/>
    <p:sldLayoutId id="2147483715" r:id="rId3"/>
    <p:sldLayoutId id="2147483691" r:id="rId4"/>
    <p:sldLayoutId id="2147483709" r:id="rId5"/>
    <p:sldLayoutId id="2147483700" r:id="rId6"/>
    <p:sldLayoutId id="2147483701" r:id="rId7"/>
    <p:sldLayoutId id="2147483680" r:id="rId8"/>
    <p:sldLayoutId id="2147483681" r:id="rId9"/>
    <p:sldLayoutId id="2147483714" r:id="rId10"/>
    <p:sldLayoutId id="2147483718" r:id="rId11"/>
    <p:sldLayoutId id="2147483719" r:id="rId12"/>
    <p:sldLayoutId id="2147483679" r:id="rId13"/>
    <p:sldLayoutId id="2147483704" r:id="rId14"/>
    <p:sldLayoutId id="2147483710" r:id="rId15"/>
    <p:sldLayoutId id="2147483720" r:id="rId16"/>
    <p:sldLayoutId id="2147483707" r:id="rId17"/>
    <p:sldLayoutId id="2147483703" r:id="rId18"/>
    <p:sldLayoutId id="2147483705" r:id="rId19"/>
    <p:sldLayoutId id="2147483708" r:id="rId20"/>
    <p:sldLayoutId id="2147483711" r:id="rId21"/>
    <p:sldLayoutId id="2147483712" r:id="rId22"/>
    <p:sldLayoutId id="2147483717" r:id="rId23"/>
    <p:sldLayoutId id="2147483746" r:id="rId24"/>
    <p:sldLayoutId id="2147483759" r:id="rId2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80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Playfair Displ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inancier Display" panose="02020503070506060203" pitchFamily="18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048A7-725C-1B41-B2DD-F6F3E7D7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81" y="2633696"/>
            <a:ext cx="10743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presentation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170A9-BCC4-D74E-A6DC-FC59E202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580" y="304023"/>
            <a:ext cx="5151831" cy="629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62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7" r:id="rId30"/>
    <p:sldLayoutId id="2147483758" r:id="rId3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8000" b="1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Playfair Displ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Financier Display" panose="02020503070506060203" pitchFamily="18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hyperlink" Target="mailto:data@jackhenry.com" TargetMode="External"/><Relationship Id="rId5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2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DBABF-EE6E-D440-8E3C-7D17ED2D8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370" y="2349492"/>
            <a:ext cx="7852094" cy="1945566"/>
          </a:xfrm>
        </p:spPr>
        <p:txBody>
          <a:bodyPr/>
          <a:lstStyle/>
          <a:p>
            <a:r>
              <a:rPr lang="en-US" dirty="0">
                <a:latin typeface="Poppins"/>
                <a:cs typeface="Poppins"/>
              </a:rPr>
              <a:t>AI at Jack Henry</a:t>
            </a:r>
            <a:br>
              <a:rPr lang="en-US" dirty="0"/>
            </a:br>
            <a:r>
              <a:rPr lang="en-US" sz="2000" dirty="0">
                <a:latin typeface="Poppins"/>
                <a:cs typeface="Poppins"/>
              </a:rPr>
              <a:t/>
            </a:r>
            <a:br>
              <a:rPr lang="en-US" sz="2000" dirty="0"/>
            </a:br>
            <a:r>
              <a:rPr lang="en-US" sz="2000" dirty="0">
                <a:latin typeface="Poppins"/>
                <a:cs typeface="Poppins"/>
              </a:rPr>
              <a:t/>
            </a:r>
            <a:br>
              <a:rPr lang="en-US" dirty="0"/>
            </a:br>
            <a:r>
              <a:rPr lang="en-US" sz="2000" b="0" i="1" dirty="0">
                <a:solidFill>
                  <a:schemeClr val="bg1">
                    <a:lumMod val="50000"/>
                  </a:schemeClr>
                </a:solidFill>
                <a:latin typeface="Poppins"/>
                <a:cs typeface="Poppins"/>
              </a:rPr>
              <a:t/>
            </a:r>
            <a:endParaRPr lang="en-US" b="0" i="1" dirty="0">
              <a:solidFill>
                <a:schemeClr val="bg1">
                  <a:lumMod val="50000"/>
                </a:schemeClr>
              </a:solidFill>
              <a:latin typeface="Poppins"/>
              <a:cs typeface="Poppins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43C02441-D732-CB4D-881F-9EE5105956A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2" b="92"/>
          <a:stretch/>
        </p:blipFill>
        <p:spPr>
          <a:xfrm>
            <a:off x="8156864" y="498439"/>
            <a:ext cx="5323162" cy="5320723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88BCE-8545-0142-85E4-11B5BB16E93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85788" y="4295775"/>
            <a:ext cx="4071272" cy="4270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Playfair Display"/>
              </a:rPr>
              <a:t>How we use it. How we build it. How we bring it to you.
17 Aug 2026
Mike Ames
data@jackhenry.com</a:t>
            </a:r>
          </a:p>
          <a:p>
            <a:endParaRPr lang="en-US" sz="2000" dirty="0">
              <a:latin typeface="Playfair Display"/>
            </a:endParaRPr>
          </a:p>
          <a:p>
            <a:r>
              <a:rPr lang="en-US" sz="2000" i="1" dirty="0">
                <a:latin typeface="Playfair Display"/>
              </a:rPr>
              <a:t>Mike Ames </a:t>
            </a:r>
          </a:p>
          <a:p>
            <a:r>
              <a:rPr lang="en-US" sz="2000" i="1" dirty="0">
                <a:latin typeface="Playfair Display"/>
                <a:hlinkClick r:id="rId4"/>
              </a:rPr>
              <a:t>data@jackhenry.com</a:t>
            </a:r>
            <a:r>
              <a:rPr lang="en-US" sz="2000" i="1" dirty="0">
                <a:latin typeface="Playfair Display"/>
              </a:rPr>
              <a:t> </a:t>
            </a:r>
            <a:endParaRPr lang="en-US" sz="2000" i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646C54-C556-3647-B014-4AF017AF7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575" y="1590901"/>
            <a:ext cx="4674018" cy="42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71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7D14E-1DFA-24D1-DEDC-57ADA5AD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DD0895-D254-051D-7496-DD6F4BF8E5F6}"/>
              </a:ext>
            </a:extLst>
          </p:cNvPr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618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8A7398-E11B-7738-C8A1-E5147C2082E8}"/>
              </a:ext>
            </a:extLst>
          </p:cNvPr>
          <p:cNvSpPr/>
          <p:nvPr/>
        </p:nvSpPr>
        <p:spPr>
          <a:xfrm>
            <a:off x="0" y="1188720"/>
            <a:ext cx="12161520" cy="64008"/>
          </a:xfrm>
          <a:prstGeom prst="rect">
            <a:avLst/>
          </a:prstGeom>
          <a:solidFill>
            <a:srgbClr val="085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234F6B-0D02-FFD4-2357-2DAC18E856A2}"/>
              </a:ext>
            </a:extLst>
          </p:cNvPr>
          <p:cNvSpPr/>
          <p:nvPr/>
        </p:nvSpPr>
        <p:spPr>
          <a:xfrm>
            <a:off x="457200" y="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</a:rPr>
              <a:t>Our Story in Four Beats</a:t>
            </a:r>
            <a:endParaRPr lang="en-US" sz="3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35C034-BD34-2332-C4EE-6FEF181CCB5E}"/>
              </a:ext>
            </a:extLst>
          </p:cNvPr>
          <p:cNvSpPr/>
          <p:nvPr/>
        </p:nvSpPr>
        <p:spPr>
          <a:xfrm>
            <a:off x="411480" y="1508760"/>
            <a:ext cx="35661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B14E62-BA5A-6903-A19B-0408518C9C15}"/>
              </a:ext>
            </a:extLst>
          </p:cNvPr>
          <p:cNvSpPr/>
          <p:nvPr/>
        </p:nvSpPr>
        <p:spPr>
          <a:xfrm>
            <a:off x="411480" y="1508760"/>
            <a:ext cx="3566160" cy="64008"/>
          </a:xfrm>
          <a:prstGeom prst="rect">
            <a:avLst/>
          </a:prstGeom>
          <a:solidFill>
            <a:srgbClr val="085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B202B0-2B33-DC6C-D22B-6F07CD928B91}"/>
              </a:ext>
            </a:extLst>
          </p:cNvPr>
          <p:cNvSpPr/>
          <p:nvPr/>
        </p:nvSpPr>
        <p:spPr>
          <a:xfrm>
            <a:off x="576072" y="1691640"/>
            <a:ext cx="457200" cy="457200"/>
          </a:xfrm>
          <a:prstGeom prst="ellipse">
            <a:avLst/>
          </a:prstGeom>
          <a:solidFill>
            <a:srgbClr val="0618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9D6592-0425-54A5-898D-0FADB779CD6E}"/>
              </a:ext>
            </a:extLst>
          </p:cNvPr>
          <p:cNvSpPr/>
          <p:nvPr/>
        </p:nvSpPr>
        <p:spPr>
          <a:xfrm>
            <a:off x="57607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01</a:t>
            </a:r>
            <a:endParaRPr lang="en-US" sz="110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6A0ACD0E-CFF3-DF96-42EC-509E78BD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673352"/>
            <a:ext cx="365760" cy="36576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17DE29C4-8555-C200-DFDA-CF97D34AACA4}"/>
              </a:ext>
            </a:extLst>
          </p:cNvPr>
          <p:cNvSpPr/>
          <p:nvPr/>
        </p:nvSpPr>
        <p:spPr>
          <a:xfrm>
            <a:off x="576072" y="222199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6185F"/>
                </a:solidFill>
              </a:rPr>
              <a:t>We use it</a:t>
            </a:r>
            <a:endParaRPr lang="en-US" sz="15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A69EC80-528E-C7AD-6263-C59C1242B9C9}"/>
              </a:ext>
            </a:extLst>
          </p:cNvPr>
          <p:cNvSpPr/>
          <p:nvPr/>
        </p:nvSpPr>
        <p:spPr>
          <a:xfrm>
            <a:off x="576072" y="2587752"/>
            <a:ext cx="3236976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sz="1100">
                <a:solidFill>
                  <a:srgbClr val="1B2340"/>
                </a:solidFill>
                <a:latin typeface="Poppins"/>
              </a:rPr>
              <a:t>Accelerating internal adoption with a team of AI coaches.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8DE87D5-2EB3-E007-3B8C-C2EDB43FD160}"/>
              </a:ext>
            </a:extLst>
          </p:cNvPr>
          <p:cNvSpPr/>
          <p:nvPr/>
        </p:nvSpPr>
        <p:spPr>
          <a:xfrm>
            <a:off x="4261104" y="1508760"/>
            <a:ext cx="35661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4162024-5F66-AB9D-DCBA-5E2F5F0289B6}"/>
              </a:ext>
            </a:extLst>
          </p:cNvPr>
          <p:cNvSpPr/>
          <p:nvPr/>
        </p:nvSpPr>
        <p:spPr>
          <a:xfrm>
            <a:off x="4261104" y="1508760"/>
            <a:ext cx="3566160" cy="64008"/>
          </a:xfrm>
          <a:prstGeom prst="rect">
            <a:avLst/>
          </a:prstGeom>
          <a:solidFill>
            <a:srgbClr val="085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AC80217-BA98-280B-ACC7-01313F073DC2}"/>
              </a:ext>
            </a:extLst>
          </p:cNvPr>
          <p:cNvSpPr/>
          <p:nvPr/>
        </p:nvSpPr>
        <p:spPr>
          <a:xfrm>
            <a:off x="4425696" y="1691640"/>
            <a:ext cx="457200" cy="457200"/>
          </a:xfrm>
          <a:prstGeom prst="ellipse">
            <a:avLst/>
          </a:prstGeom>
          <a:solidFill>
            <a:srgbClr val="0618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DC3FE4D-FBDC-5722-E49F-2224A834EC22}"/>
              </a:ext>
            </a:extLst>
          </p:cNvPr>
          <p:cNvSpPr/>
          <p:nvPr/>
        </p:nvSpPr>
        <p:spPr>
          <a:xfrm>
            <a:off x="442569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02</a:t>
            </a:r>
            <a:endParaRPr lang="en-US" sz="110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587581DD-8C78-F5B4-2CC0-4E63FC96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1673352"/>
            <a:ext cx="365760" cy="36576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5B890D51-8FC3-3297-C0C2-6F65A7D61F16}"/>
              </a:ext>
            </a:extLst>
          </p:cNvPr>
          <p:cNvSpPr/>
          <p:nvPr/>
        </p:nvSpPr>
        <p:spPr>
          <a:xfrm>
            <a:off x="4425696" y="222199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185F"/>
                </a:solidFill>
              </a:rPr>
              <a:t>We build it</a:t>
            </a:r>
            <a:endParaRPr lang="en-US" sz="15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A8548FD-F203-F552-5789-A48875B73CC6}"/>
              </a:ext>
            </a:extLst>
          </p:cNvPr>
          <p:cNvSpPr/>
          <p:nvPr/>
        </p:nvSpPr>
        <p:spPr>
          <a:xfrm>
            <a:off x="4425696" y="3008376"/>
            <a:ext cx="3236976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sz="1100">
                <a:solidFill>
                  <a:srgbClr val="1B2340"/>
                </a:solidFill>
                <a:latin typeface="Poppins"/>
              </a:rPr>
              <a:t>Helping product teams embed AI for better customer experiences.</a:t>
            </a:r>
            <a:endParaRPr lang="en-US" sz="1100" dirty="0">
              <a:solidFill>
                <a:srgbClr val="06185F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9B667E-345F-77A4-D540-CBDB80A47F1F}"/>
              </a:ext>
            </a:extLst>
          </p:cNvPr>
          <p:cNvSpPr txBox="1"/>
          <p:nvPr/>
        </p:nvSpPr>
        <p:spPr>
          <a:xfrm>
            <a:off x="3161841" y="6499952"/>
            <a:ext cx="537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Jack Henry Confidential</a:t>
            </a:r>
          </a:p>
        </p:txBody>
      </p:sp>
      <p:sp>
        <p:nvSpPr>
          <p:cNvPr id="48" name="Shape 9_c48">
            <a:extLst>
              <a:ext uri="{FF2B5EF4-FFF2-40B4-BE49-F238E27FC236}">
                <a16:creationId xmlns:a16="http://schemas.microsoft.com/office/drawing/2014/main" id="{68DE87D5-2EB3-E007-3B8C-C2EDB43FD160}"/>
              </a:ext>
            </a:extLst>
          </p:cNvPr>
          <p:cNvSpPr/>
          <p:nvPr/>
        </p:nvSpPr>
        <p:spPr>
          <a:xfrm>
            <a:off x="8110728" y="1508760"/>
            <a:ext cx="35661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10_c49">
            <a:extLst>
              <a:ext uri="{FF2B5EF4-FFF2-40B4-BE49-F238E27FC236}">
                <a16:creationId xmlns:a16="http://schemas.microsoft.com/office/drawing/2014/main" id="{04162024-5F66-AB9D-DCBA-5E2F5F0289B6}"/>
              </a:ext>
            </a:extLst>
          </p:cNvPr>
          <p:cNvSpPr/>
          <p:nvPr/>
        </p:nvSpPr>
        <p:spPr>
          <a:xfrm>
            <a:off x="8110728" y="1508760"/>
            <a:ext cx="3566160" cy="64008"/>
          </a:xfrm>
          <a:prstGeom prst="rect">
            <a:avLst/>
          </a:prstGeom>
          <a:solidFill>
            <a:srgbClr val="085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1_c50">
            <a:extLst>
              <a:ext uri="{FF2B5EF4-FFF2-40B4-BE49-F238E27FC236}">
                <a16:creationId xmlns:a16="http://schemas.microsoft.com/office/drawing/2014/main" id="{1AC80217-BA98-280B-ACC7-01313F073DC2}"/>
              </a:ext>
            </a:extLst>
          </p:cNvPr>
          <p:cNvSpPr/>
          <p:nvPr/>
        </p:nvSpPr>
        <p:spPr>
          <a:xfrm>
            <a:off x="8275320" y="1691640"/>
            <a:ext cx="457200" cy="457200"/>
          </a:xfrm>
          <a:prstGeom prst="ellipse">
            <a:avLst/>
          </a:prstGeom>
          <a:solidFill>
            <a:srgbClr val="0618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12_c51">
            <a:extLst>
              <a:ext uri="{FF2B5EF4-FFF2-40B4-BE49-F238E27FC236}">
                <a16:creationId xmlns:a16="http://schemas.microsoft.com/office/drawing/2014/main" id="{1DC3FE4D-FBDC-5722-E49F-2224A834EC22}"/>
              </a:ext>
            </a:extLst>
          </p:cNvPr>
          <p:cNvSpPr/>
          <p:nvPr/>
        </p:nvSpPr>
        <p:spPr>
          <a:xfrm>
            <a:off x="8275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oppins"/>
              </a:rPr>
              <a:t>03</a:t>
            </a:r>
            <a:endParaRPr lang="en-US" sz="1100"/>
          </a:p>
        </p:txBody>
      </p:sp>
      <p:pic>
        <p:nvPicPr>
          <p:cNvPr id="52" name="Image 1_c52" descr="preencoded.png">
            <a:extLst>
              <a:ext uri="{FF2B5EF4-FFF2-40B4-BE49-F238E27FC236}">
                <a16:creationId xmlns:a16="http://schemas.microsoft.com/office/drawing/2014/main" id="{587581DD-8C78-F5B4-2CC0-4E63FC96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1673352"/>
            <a:ext cx="365760" cy="365760"/>
          </a:xfrm>
          <a:prstGeom prst="rect">
            <a:avLst/>
          </a:prstGeom>
        </p:spPr>
      </p:pic>
      <p:sp>
        <p:nvSpPr>
          <p:cNvPr id="53" name="Text 13_c53">
            <a:extLst>
              <a:ext uri="{FF2B5EF4-FFF2-40B4-BE49-F238E27FC236}">
                <a16:creationId xmlns:a16="http://schemas.microsoft.com/office/drawing/2014/main" id="{5B890D51-8FC3-3297-C0C2-6F65A7D61F16}"/>
              </a:ext>
            </a:extLst>
          </p:cNvPr>
          <p:cNvSpPr/>
          <p:nvPr/>
        </p:nvSpPr>
        <p:spPr>
          <a:xfrm>
            <a:off x="8275320" y="222199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sz="1500" b="1">
                <a:solidFill>
                  <a:srgbClr val="06185F"/>
                </a:solidFill>
                <a:latin typeface="Poppins"/>
              </a:rPr>
              <a:t>You get it</a:t>
            </a:r>
            <a:endParaRPr lang="en-US" sz="1500" dirty="0"/>
          </a:p>
        </p:txBody>
      </p:sp>
      <p:sp>
        <p:nvSpPr>
          <p:cNvPr id="54" name="Text 14_c54">
            <a:extLst>
              <a:ext uri="{FF2B5EF4-FFF2-40B4-BE49-F238E27FC236}">
                <a16:creationId xmlns:a16="http://schemas.microsoft.com/office/drawing/2014/main" id="{FA8548FD-F203-F552-5789-A48875B73CC6}"/>
              </a:ext>
            </a:extLst>
          </p:cNvPr>
          <p:cNvSpPr/>
          <p:nvPr/>
        </p:nvSpPr>
        <p:spPr>
          <a:xfrm>
            <a:off x="8275320" y="3008376"/>
            <a:ext cx="3236976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sz="1100">
                <a:solidFill>
                  <a:srgbClr val="1B2340"/>
                </a:solidFill>
                <a:latin typeface="Poppins"/>
              </a:rPr>
              <a:t>Enabling clients to leverage AI through our products and supporting initiatives.</a:t>
            </a:r>
            <a:endParaRPr lang="en-US" sz="1100" dirty="0">
              <a:solidFill>
                <a:srgbClr val="06185F"/>
              </a:solidFill>
            </a:endParaRPr>
          </a:p>
        </p:txBody>
      </p:sp>
      <p:sp>
        <p:nvSpPr>
          <p:cNvPr id="55" name="TextBox 46_c55">
            <a:extLst>
              <a:ext uri="{FF2B5EF4-FFF2-40B4-BE49-F238E27FC236}">
                <a16:creationId xmlns:a16="http://schemas.microsoft.com/office/drawing/2014/main" id="{E09B667E-345F-77A4-D540-CBDB80A47F1F}"/>
              </a:ext>
            </a:extLst>
          </p:cNvPr>
          <p:cNvSpPr txBox="1"/>
          <p:nvPr/>
        </p:nvSpPr>
        <p:spPr>
          <a:xfrm>
            <a:off x="7011465" y="6499952"/>
            <a:ext cx="53762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</a:p>
        </p:txBody>
      </p:sp>
      <p:sp>
        <p:nvSpPr>
          <p:cNvPr id="56" name="Shape 9_c48_c56">
            <a:extLst>
              <a:ext uri="{FF2B5EF4-FFF2-40B4-BE49-F238E27FC236}">
                <a16:creationId xmlns:a16="http://schemas.microsoft.com/office/drawing/2014/main" id="{68DE87D5-2EB3-E007-3B8C-C2EDB43FD160}"/>
              </a:ext>
            </a:extLst>
          </p:cNvPr>
          <p:cNvSpPr/>
          <p:nvPr/>
        </p:nvSpPr>
        <p:spPr>
          <a:xfrm>
            <a:off x="11960352" y="1508760"/>
            <a:ext cx="356616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10_c49_c57">
            <a:extLst>
              <a:ext uri="{FF2B5EF4-FFF2-40B4-BE49-F238E27FC236}">
                <a16:creationId xmlns:a16="http://schemas.microsoft.com/office/drawing/2014/main" id="{04162024-5F66-AB9D-DCBA-5E2F5F0289B6}"/>
              </a:ext>
            </a:extLst>
          </p:cNvPr>
          <p:cNvSpPr/>
          <p:nvPr/>
        </p:nvSpPr>
        <p:spPr>
          <a:xfrm>
            <a:off x="11960352" y="1508760"/>
            <a:ext cx="3566160" cy="64008"/>
          </a:xfrm>
          <a:prstGeom prst="rect">
            <a:avLst/>
          </a:prstGeom>
          <a:solidFill>
            <a:srgbClr val="085C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11_c50_c58">
            <a:extLst>
              <a:ext uri="{FF2B5EF4-FFF2-40B4-BE49-F238E27FC236}">
                <a16:creationId xmlns:a16="http://schemas.microsoft.com/office/drawing/2014/main" id="{1AC80217-BA98-280B-ACC7-01313F073DC2}"/>
              </a:ext>
            </a:extLst>
          </p:cNvPr>
          <p:cNvSpPr/>
          <p:nvPr/>
        </p:nvSpPr>
        <p:spPr>
          <a:xfrm>
            <a:off x="12124944" y="1691640"/>
            <a:ext cx="457200" cy="457200"/>
          </a:xfrm>
          <a:prstGeom prst="ellipse">
            <a:avLst/>
          </a:prstGeom>
          <a:solidFill>
            <a:srgbClr val="0618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12_c51_c59">
            <a:extLst>
              <a:ext uri="{FF2B5EF4-FFF2-40B4-BE49-F238E27FC236}">
                <a16:creationId xmlns:a16="http://schemas.microsoft.com/office/drawing/2014/main" id="{1DC3FE4D-FBDC-5722-E49F-2224A834EC22}"/>
              </a:ext>
            </a:extLst>
          </p:cNvPr>
          <p:cNvSpPr/>
          <p:nvPr/>
        </p:nvSpPr>
        <p:spPr>
          <a:xfrm>
            <a:off x="1212494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Poppins"/>
              </a:rPr>
              <a:t>04</a:t>
            </a:r>
            <a:endParaRPr lang="en-US" sz="1100"/>
          </a:p>
        </p:txBody>
      </p:sp>
      <p:pic>
        <p:nvPicPr>
          <p:cNvPr id="60" name="Image 1_c52_c60" descr="preencoded.png">
            <a:extLst>
              <a:ext uri="{FF2B5EF4-FFF2-40B4-BE49-F238E27FC236}">
                <a16:creationId xmlns:a16="http://schemas.microsoft.com/office/drawing/2014/main" id="{587581DD-8C78-F5B4-2CC0-4E63FC96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0" y="1673352"/>
            <a:ext cx="365760" cy="365760"/>
          </a:xfrm>
          <a:prstGeom prst="rect">
            <a:avLst/>
          </a:prstGeom>
        </p:spPr>
      </p:pic>
      <p:sp>
        <p:nvSpPr>
          <p:cNvPr id="61" name="Text 13_c53_c61">
            <a:extLst>
              <a:ext uri="{FF2B5EF4-FFF2-40B4-BE49-F238E27FC236}">
                <a16:creationId xmlns:a16="http://schemas.microsoft.com/office/drawing/2014/main" id="{5B890D51-8FC3-3297-C0C2-6F65A7D61F16}"/>
              </a:ext>
            </a:extLst>
          </p:cNvPr>
          <p:cNvSpPr/>
          <p:nvPr/>
        </p:nvSpPr>
        <p:spPr>
          <a:xfrm>
            <a:off x="12124944" y="2221992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sz="1500" b="1">
                <a:solidFill>
                  <a:srgbClr val="06185F"/>
                </a:solidFill>
                <a:latin typeface="Poppins"/>
              </a:rPr>
              <a:t>You get the playbook</a:t>
            </a:r>
            <a:endParaRPr lang="en-US" sz="1500" dirty="0"/>
          </a:p>
        </p:txBody>
      </p:sp>
      <p:sp>
        <p:nvSpPr>
          <p:cNvPr id="62" name="Text 14_c54_c62">
            <a:extLst>
              <a:ext uri="{FF2B5EF4-FFF2-40B4-BE49-F238E27FC236}">
                <a16:creationId xmlns:a16="http://schemas.microsoft.com/office/drawing/2014/main" id="{FA8548FD-F203-F552-5789-A48875B73CC6}"/>
              </a:ext>
            </a:extLst>
          </p:cNvPr>
          <p:cNvSpPr/>
          <p:nvPr/>
        </p:nvSpPr>
        <p:spPr>
          <a:xfrm>
            <a:off x="12124944" y="3008376"/>
            <a:ext cx="3236976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sz="1100">
                <a:solidFill>
                  <a:srgbClr val="1B2340"/>
                </a:solidFill>
                <a:latin typeface="Poppins"/>
              </a:rPr>
              <a:t>Bringing our best practices to customers through adoption and coaching.</a:t>
            </a:r>
            <a:endParaRPr lang="en-US" sz="1100" dirty="0">
              <a:solidFill>
                <a:srgbClr val="0618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90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4"/>
          <p:cNvSpPr txBox="1">
            <a:spLocks noGrp="1"/>
          </p:cNvSpPr>
          <p:nvPr>
            <p:ph type="ctrTitle"/>
          </p:nvPr>
        </p:nvSpPr>
        <p:spPr>
          <a:xfrm>
            <a:off x="505377" y="2349500"/>
            <a:ext cx="10286400" cy="19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Poppins"/>
              <a:buNone/>
            </a:pPr>
            <a:r>
              <a:rPr lang="en-US" sz="7100"/>
              <a:t>AI @ Jack Henry</a:t>
            </a:r>
            <a:endParaRPr/>
          </a:p>
        </p:txBody>
      </p:sp>
      <p:sp>
        <p:nvSpPr>
          <p:cNvPr id="546" name="Google Shape;546;p74"/>
          <p:cNvSpPr/>
          <p:nvPr/>
        </p:nvSpPr>
        <p:spPr>
          <a:xfrm>
            <a:off x="8400000" y="914375"/>
            <a:ext cx="5029200" cy="5029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47" name="Google Shape;547;p74"/>
          <p:cNvSpPr/>
          <p:nvPr/>
        </p:nvSpPr>
        <p:spPr>
          <a:xfrm>
            <a:off x="9647049" y="2085963"/>
            <a:ext cx="2535092" cy="2686033"/>
          </a:xfrm>
          <a:custGeom>
            <a:avLst/>
            <a:gdLst/>
            <a:ahLst/>
            <a:cxnLst/>
            <a:rect l="l" t="t" r="r" b="b"/>
            <a:pathLst>
              <a:path w="1877846" h="1901616" extrusionOk="0">
                <a:moveTo>
                  <a:pt x="0" y="0"/>
                </a:moveTo>
                <a:lnTo>
                  <a:pt x="1877846" y="0"/>
                </a:lnTo>
                <a:lnTo>
                  <a:pt x="1877846" y="1901617"/>
                </a:lnTo>
                <a:lnTo>
                  <a:pt x="0" y="1901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900"/>
              <a:buFont typeface="Playfair Display"/>
              <a:buNone/>
            </a:pPr>
            <a:endParaRPr sz="1900" b="0" i="0" u="none" strike="noStrike" cap="none">
              <a:solidFill>
                <a:srgbClr val="06185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6092F-5C71-87F5-D118-2AFF511643A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400" b="1">
                <a:solidFill>
                  <a:srgbClr val="085CE5"/>
                </a:solidFill>
                <a:latin typeface="Poppins"/>
              </a:rPr>
              <a:t>OUR STORY</a:t>
            </a:r>
            <a:endParaRPr lang="en-US"/>
          </a:p>
        </p:txBody>
      </p:sp>
      <p:sp>
        <p:nvSpPr>
          <p:cNvPr id="548" name="Rectangle 547"/>
          <p:cNvSpPr/>
          <p:nvPr/>
        </p:nvSpPr>
        <p:spPr>
          <a:xfrm>
            <a:off x="502920" y="4343400"/>
            <a:ext cx="7772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800" b="0">
                <a:solidFill>
                  <a:srgbClr val="06185F"/>
                </a:solidFill>
                <a:latin typeface="Playfair Display"/>
              </a:rPr>
              <a:t>Inside-out: coaches → products → clients → coaching</a:t>
            </a:r>
          </a:p>
        </p:txBody>
      </p:sp>
      <p:sp>
        <p:nvSpPr>
          <p:cNvPr id="549" name="Rounded Rectangle 548"/>
          <p:cNvSpPr/>
          <p:nvPr/>
        </p:nvSpPr>
        <p:spPr>
          <a:xfrm>
            <a:off x="50292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People</a:t>
            </a:r>
          </a:p>
        </p:txBody>
      </p:sp>
      <p:sp>
        <p:nvSpPr>
          <p:cNvPr id="550" name="Rounded Rectangle 549"/>
          <p:cNvSpPr/>
          <p:nvPr/>
        </p:nvSpPr>
        <p:spPr>
          <a:xfrm>
            <a:off x="233172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Products</a:t>
            </a:r>
          </a:p>
        </p:txBody>
      </p:sp>
      <p:sp>
        <p:nvSpPr>
          <p:cNvPr id="551" name="Rounded Rectangle 550"/>
          <p:cNvSpPr/>
          <p:nvPr/>
        </p:nvSpPr>
        <p:spPr>
          <a:xfrm>
            <a:off x="434340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oppins"/>
              </a:rPr>
              <a:t>Clients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3"/>
          <p:cNvSpPr/>
          <p:nvPr/>
        </p:nvSpPr>
        <p:spPr>
          <a:xfrm>
            <a:off x="1411200" y="1632096"/>
            <a:ext cx="2736000" cy="3630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 Literacy</a:t>
            </a:r>
            <a:endParaRPr sz="24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Start small, build a sandbox</a:t>
            </a:r>
            <a:endParaRPr sz="24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5" name="Google Shape;695;p83"/>
          <p:cNvSpPr/>
          <p:nvPr/>
        </p:nvSpPr>
        <p:spPr>
          <a:xfrm>
            <a:off x="4728000" y="1595504"/>
            <a:ext cx="2736000" cy="36303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 Proficiency</a:t>
            </a:r>
            <a:endParaRPr sz="24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gives you 1 free day a week</a:t>
            </a:r>
            <a:endParaRPr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6" name="Google Shape;696;p83"/>
          <p:cNvSpPr/>
          <p:nvPr/>
        </p:nvSpPr>
        <p:spPr>
          <a:xfrm>
            <a:off x="8044800" y="1595500"/>
            <a:ext cx="2736000" cy="3552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 Native</a:t>
            </a:r>
            <a:endParaRPr sz="240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is your operating system</a:t>
            </a:r>
            <a:endParaRPr sz="24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97" name="Google Shape;697;p83"/>
          <p:cNvSpPr/>
          <p:nvPr/>
        </p:nvSpPr>
        <p:spPr>
          <a:xfrm>
            <a:off x="2352400" y="1849447"/>
            <a:ext cx="853500" cy="853500"/>
          </a:xfrm>
          <a:prstGeom prst="ellipse">
            <a:avLst/>
          </a:prstGeom>
          <a:solidFill>
            <a:srgbClr val="48DEFE"/>
          </a:solidFill>
          <a:ln w="1016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6185F"/>
                </a:solidFill>
                <a:latin typeface="Poppins"/>
              </a:rPr>
              <a:t>1</a:t>
            </a:r>
            <a:endParaRPr sz="4100"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98" name="Google Shape;698;p83"/>
          <p:cNvSpPr/>
          <p:nvPr/>
        </p:nvSpPr>
        <p:spPr>
          <a:xfrm>
            <a:off x="5669200" y="1849447"/>
            <a:ext cx="853500" cy="853500"/>
          </a:xfrm>
          <a:prstGeom prst="ellipse">
            <a:avLst/>
          </a:prstGeom>
          <a:solidFill>
            <a:srgbClr val="48DEFE"/>
          </a:solidFill>
          <a:ln w="1016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6185F"/>
                </a:solidFill>
                <a:latin typeface="Poppins"/>
              </a:rPr>
              <a:t>2</a:t>
            </a:r>
            <a:endParaRPr sz="4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99" name="Google Shape;699;p83"/>
          <p:cNvSpPr/>
          <p:nvPr/>
        </p:nvSpPr>
        <p:spPr>
          <a:xfrm>
            <a:off x="8986000" y="1849447"/>
            <a:ext cx="853500" cy="853500"/>
          </a:xfrm>
          <a:prstGeom prst="ellipse">
            <a:avLst/>
          </a:prstGeom>
          <a:solidFill>
            <a:srgbClr val="48DEFE"/>
          </a:solidFill>
          <a:ln w="1016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6185F"/>
                </a:solidFill>
                <a:latin typeface="Poppins"/>
              </a:rPr>
              <a:t>3</a:t>
            </a:r>
            <a:endParaRPr sz="41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700" name="Google Shape;700;p83"/>
          <p:cNvSpPr txBox="1">
            <a:spLocks noGrp="1"/>
          </p:cNvSpPr>
          <p:nvPr>
            <p:ph type="body" idx="1"/>
          </p:nvPr>
        </p:nvSpPr>
        <p:spPr>
          <a:xfrm>
            <a:off x="664431" y="472200"/>
            <a:ext cx="7793100" cy="45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From Curious to Fluent to Market Leader </a:t>
            </a:r>
            <a:endParaRPr/>
          </a:p>
        </p:txBody>
      </p:sp>
      <p:sp>
        <p:nvSpPr>
          <p:cNvPr id="701" name="Right Arrow 700"/>
          <p:cNvSpPr/>
          <p:nvPr/>
        </p:nvSpPr>
        <p:spPr>
          <a:xfrm>
            <a:off x="4187952" y="3200400"/>
            <a:ext cx="475488" cy="347472"/>
          </a:xfrm>
          <a:prstGeom prst="rightArrow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2" name="Right Arrow 701"/>
          <p:cNvSpPr/>
          <p:nvPr/>
        </p:nvSpPr>
        <p:spPr>
          <a:xfrm>
            <a:off x="7516368" y="3200400"/>
            <a:ext cx="475488" cy="347472"/>
          </a:xfrm>
          <a:prstGeom prst="rightArrow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6"/>
          <p:cNvSpPr txBox="1"/>
          <p:nvPr/>
        </p:nvSpPr>
        <p:spPr>
          <a:xfrm>
            <a:off x="295377" y="511245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Transformation Program Impact</a:t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736" name="Google Shape;736;p86"/>
          <p:cNvGrpSpPr/>
          <p:nvPr/>
        </p:nvGrpSpPr>
        <p:grpSpPr>
          <a:xfrm>
            <a:off x="7066857" y="2441878"/>
            <a:ext cx="4764900" cy="1088100"/>
            <a:chOff x="7288650" y="873850"/>
            <a:chExt cx="4764900" cy="1088100"/>
          </a:xfrm>
        </p:grpSpPr>
        <p:pic>
          <p:nvPicPr>
            <p:cNvPr id="737" name="Google Shape;737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88650" y="929775"/>
              <a:ext cx="941425" cy="92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86"/>
            <p:cNvSpPr txBox="1"/>
            <p:nvPr/>
          </p:nvSpPr>
          <p:spPr>
            <a:xfrm>
              <a:off x="8337150" y="873850"/>
              <a:ext cx="3716400" cy="108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2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37 HOURS</a:t>
              </a:r>
              <a:r>
                <a:rPr lang="en-US" sz="20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 </a:t>
              </a:r>
              <a:r>
                <a:rPr lang="en-US" sz="1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regained weekly</a:t>
              </a:r>
              <a:endParaRPr sz="1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AI-optimized Service Desk triage added a new team member to the team.</a:t>
              </a:r>
              <a:endParaRPr sz="1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739" name="Google Shape;739;p86"/>
          <p:cNvGrpSpPr/>
          <p:nvPr/>
        </p:nvGrpSpPr>
        <p:grpSpPr>
          <a:xfrm>
            <a:off x="7066857" y="3612728"/>
            <a:ext cx="4764900" cy="1052700"/>
            <a:chOff x="7288650" y="3848250"/>
            <a:chExt cx="4764900" cy="1052700"/>
          </a:xfrm>
        </p:grpSpPr>
        <p:sp>
          <p:nvSpPr>
            <p:cNvPr id="740" name="Google Shape;740;p86"/>
            <p:cNvSpPr txBox="1"/>
            <p:nvPr/>
          </p:nvSpPr>
          <p:spPr>
            <a:xfrm>
              <a:off x="8337150" y="3848250"/>
              <a:ext cx="3716400" cy="10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2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30 HOURS</a:t>
              </a:r>
              <a:r>
                <a:rPr lang="en-US" sz="21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 </a:t>
              </a:r>
              <a:r>
                <a:rPr lang="en-US" sz="1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backlog capacity</a:t>
              </a:r>
              <a:endParaRPr sz="1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 acted as a virtual team member allowing the team to absorb more work.</a:t>
              </a:r>
              <a:endParaRPr sz="1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id="741" name="Google Shape;741;p8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88650" y="3935225"/>
              <a:ext cx="914400" cy="8610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2" name="Google Shape;742;p86"/>
          <p:cNvGrpSpPr/>
          <p:nvPr/>
        </p:nvGrpSpPr>
        <p:grpSpPr>
          <a:xfrm>
            <a:off x="7066857" y="4765878"/>
            <a:ext cx="4764900" cy="1052700"/>
            <a:chOff x="7288650" y="3197850"/>
            <a:chExt cx="4764900" cy="1052700"/>
          </a:xfrm>
        </p:grpSpPr>
        <p:pic>
          <p:nvPicPr>
            <p:cNvPr id="743" name="Google Shape;743;p8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88650" y="3281675"/>
              <a:ext cx="914400" cy="8850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4" name="Google Shape;744;p86"/>
            <p:cNvSpPr txBox="1"/>
            <p:nvPr/>
          </p:nvSpPr>
          <p:spPr>
            <a:xfrm>
              <a:off x="8337150" y="3197850"/>
              <a:ext cx="3716400" cy="10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chemeClr val="dk2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75%</a:t>
              </a:r>
              <a:r>
                <a:rPr lang="en-US" sz="21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 </a:t>
              </a:r>
              <a:r>
                <a:rPr lang="en-US" sz="1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faster code completion</a:t>
              </a:r>
              <a:endParaRPr sz="1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 helped developers show significant savings performing complex log analysis.</a:t>
              </a:r>
              <a:endParaRPr sz="1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sp>
        <p:nvSpPr>
          <p:cNvPr id="745" name="Google Shape;745;p86"/>
          <p:cNvSpPr txBox="1"/>
          <p:nvPr/>
        </p:nvSpPr>
        <p:spPr>
          <a:xfrm>
            <a:off x="509238" y="1060225"/>
            <a:ext cx="60960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chemeClr val="dk2"/>
                </a:solidFill>
                <a:latin typeface="Poppins Black"/>
                <a:ea typeface="Poppins Black"/>
                <a:cs typeface="Poppins Black"/>
                <a:sym typeface="Poppins Black"/>
              </a:rPr>
              <a:t>1323 ASSOCIATES</a:t>
            </a:r>
            <a:endParaRPr sz="45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with the 8 recently hired AI Coaches</a:t>
            </a:r>
            <a:endParaRPr sz="2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46" name="Google Shape;746;p86"/>
          <p:cNvSpPr txBox="1"/>
          <p:nvPr/>
        </p:nvSpPr>
        <p:spPr>
          <a:xfrm>
            <a:off x="602353" y="3335235"/>
            <a:ext cx="31599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Teams completed</a:t>
            </a:r>
            <a:endParaRPr sz="160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47" name="Google Shape;747;p86"/>
          <p:cNvSpPr txBox="1"/>
          <p:nvPr/>
        </p:nvSpPr>
        <p:spPr>
          <a:xfrm>
            <a:off x="603504" y="4173928"/>
            <a:ext cx="46581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Teams increased AI maturity by 2 levels</a:t>
            </a:r>
            <a:endParaRPr sz="160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48" name="Google Shape;748;p86"/>
          <p:cNvSpPr txBox="1"/>
          <p:nvPr/>
        </p:nvSpPr>
        <p:spPr>
          <a:xfrm>
            <a:off x="603505" y="5013852"/>
            <a:ext cx="44184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Teams that are 20% or more productive</a:t>
            </a:r>
            <a:endParaRPr sz="160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49" name="Google Shape;749;p86"/>
          <p:cNvSpPr txBox="1"/>
          <p:nvPr/>
        </p:nvSpPr>
        <p:spPr>
          <a:xfrm>
            <a:off x="603504" y="2498445"/>
            <a:ext cx="3159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Teams in progress</a:t>
            </a:r>
            <a:endParaRPr sz="1600">
              <a:solidFill>
                <a:schemeClr val="dk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750" name="Google Shape;750;p86"/>
          <p:cNvSpPr/>
          <p:nvPr/>
        </p:nvSpPr>
        <p:spPr>
          <a:xfrm>
            <a:off x="603504" y="2935539"/>
            <a:ext cx="6022800" cy="3201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1" name="Google Shape;751;p86"/>
          <p:cNvSpPr/>
          <p:nvPr/>
        </p:nvSpPr>
        <p:spPr>
          <a:xfrm>
            <a:off x="603504" y="3779448"/>
            <a:ext cx="6022800" cy="320100"/>
          </a:xfrm>
          <a:prstGeom prst="roundRect">
            <a:avLst>
              <a:gd name="adj" fmla="val 1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2" name="Google Shape;752;p86"/>
          <p:cNvSpPr/>
          <p:nvPr/>
        </p:nvSpPr>
        <p:spPr>
          <a:xfrm>
            <a:off x="603504" y="4623368"/>
            <a:ext cx="6022800" cy="320100"/>
          </a:xfrm>
          <a:prstGeom prst="roundRect">
            <a:avLst>
              <a:gd name="adj" fmla="val 16667"/>
            </a:avLst>
          </a:prstGeom>
          <a:solidFill>
            <a:srgbClr val="E8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3" name="Google Shape;753;p86"/>
          <p:cNvSpPr/>
          <p:nvPr/>
        </p:nvSpPr>
        <p:spPr>
          <a:xfrm>
            <a:off x="603504" y="5467290"/>
            <a:ext cx="6022800" cy="320100"/>
          </a:xfrm>
          <a:prstGeom prst="roundRect">
            <a:avLst>
              <a:gd name="adj" fmla="val 16667"/>
            </a:avLst>
          </a:prstGeom>
          <a:solidFill>
            <a:srgbClr val="E8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4" name="Google Shape;754;p86"/>
          <p:cNvSpPr txBox="1"/>
          <p:nvPr/>
        </p:nvSpPr>
        <p:spPr>
          <a:xfrm>
            <a:off x="6051178" y="2496528"/>
            <a:ext cx="5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34</a:t>
            </a:r>
            <a:endParaRPr sz="19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55" name="Google Shape;755;p86"/>
          <p:cNvSpPr txBox="1"/>
          <p:nvPr/>
        </p:nvSpPr>
        <p:spPr>
          <a:xfrm>
            <a:off x="6051178" y="3335228"/>
            <a:ext cx="5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29</a:t>
            </a:r>
            <a:endParaRPr sz="19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56" name="Google Shape;756;p86"/>
          <p:cNvSpPr txBox="1"/>
          <p:nvPr/>
        </p:nvSpPr>
        <p:spPr>
          <a:xfrm>
            <a:off x="6051178" y="4173928"/>
            <a:ext cx="5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21</a:t>
            </a:r>
            <a:endParaRPr sz="19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57" name="Google Shape;757;p86"/>
          <p:cNvSpPr/>
          <p:nvPr/>
        </p:nvSpPr>
        <p:spPr>
          <a:xfrm>
            <a:off x="603504" y="4619954"/>
            <a:ext cx="4389300" cy="3069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8" name="Google Shape;758;p86"/>
          <p:cNvSpPr txBox="1"/>
          <p:nvPr/>
        </p:nvSpPr>
        <p:spPr>
          <a:xfrm>
            <a:off x="6051178" y="4974528"/>
            <a:ext cx="5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22</a:t>
            </a:r>
            <a:endParaRPr sz="1900">
              <a:solidFill>
                <a:schemeClr val="dk2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759" name="Google Shape;759;p86"/>
          <p:cNvSpPr/>
          <p:nvPr/>
        </p:nvSpPr>
        <p:spPr>
          <a:xfrm>
            <a:off x="603504" y="5467304"/>
            <a:ext cx="4572000" cy="32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760" name="Google Shape;760;p86"/>
          <p:cNvGrpSpPr/>
          <p:nvPr/>
        </p:nvGrpSpPr>
        <p:grpSpPr>
          <a:xfrm>
            <a:off x="7094707" y="1347711"/>
            <a:ext cx="4736748" cy="1088373"/>
            <a:chOff x="5487513" y="-12"/>
            <a:chExt cx="3552650" cy="816300"/>
          </a:xfrm>
        </p:grpSpPr>
        <p:pic>
          <p:nvPicPr>
            <p:cNvPr id="761" name="Google Shape;761;p86"/>
            <p:cNvPicPr preferRelativeResize="0"/>
            <p:nvPr/>
          </p:nvPicPr>
          <p:blipFill rotWithShape="1">
            <a:blip r:embed="rId6">
              <a:alphaModFix/>
            </a:blip>
            <a:srcRect l="6973" t="16680" r="75626" b="42676"/>
            <a:stretch/>
          </p:blipFill>
          <p:spPr>
            <a:xfrm>
              <a:off x="5487513" y="41875"/>
              <a:ext cx="643738" cy="7040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" name="Google Shape;762;p86"/>
            <p:cNvSpPr txBox="1"/>
            <p:nvPr/>
          </p:nvSpPr>
          <p:spPr>
            <a:xfrm>
              <a:off x="6252863" y="-12"/>
              <a:ext cx="27873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2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3,200  HOURS</a:t>
              </a:r>
              <a:r>
                <a:rPr lang="en-US" sz="20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 </a:t>
              </a:r>
              <a:r>
                <a:rPr lang="en-US" sz="1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saved</a:t>
              </a:r>
              <a:endParaRPr sz="1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AI-assisted clean up of Basecamp eliminated the need for extra help.</a:t>
              </a:r>
              <a:endParaRPr sz="1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  <p:grpSp>
        <p:nvGrpSpPr>
          <p:cNvPr id="763" name="Google Shape;763;p86"/>
          <p:cNvGrpSpPr/>
          <p:nvPr/>
        </p:nvGrpSpPr>
        <p:grpSpPr>
          <a:xfrm>
            <a:off x="7083756" y="317813"/>
            <a:ext cx="4747705" cy="1090395"/>
            <a:chOff x="5325745" y="289546"/>
            <a:chExt cx="3560868" cy="817817"/>
          </a:xfrm>
        </p:grpSpPr>
        <p:pic>
          <p:nvPicPr>
            <p:cNvPr id="764" name="Google Shape;764;p86"/>
            <p:cNvPicPr preferRelativeResize="0"/>
            <p:nvPr/>
          </p:nvPicPr>
          <p:blipFill rotWithShape="1">
            <a:blip r:embed="rId7">
              <a:alphaModFix/>
            </a:blip>
            <a:srcRect l="7723" r="27544" b="20064"/>
            <a:stretch/>
          </p:blipFill>
          <p:spPr>
            <a:xfrm>
              <a:off x="5325745" y="289546"/>
              <a:ext cx="653796" cy="7040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p86"/>
            <p:cNvSpPr txBox="1"/>
            <p:nvPr/>
          </p:nvSpPr>
          <p:spPr>
            <a:xfrm>
              <a:off x="6099313" y="291063"/>
              <a:ext cx="2787300" cy="81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2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1,500  HOURS</a:t>
              </a:r>
              <a:r>
                <a:rPr lang="en-US" sz="2000">
                  <a:solidFill>
                    <a:schemeClr val="dk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 </a:t>
              </a:r>
              <a:r>
                <a:rPr lang="en-US" sz="19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automated</a:t>
              </a:r>
              <a:endParaRPr sz="1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AI-driven consolidation of weekly reports across seven layers in Bank.</a:t>
              </a:r>
              <a:endParaRPr sz="1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5"/>
          <p:cNvSpPr txBox="1">
            <a:spLocks noGrp="1"/>
          </p:cNvSpPr>
          <p:nvPr>
            <p:ph type="body" idx="1"/>
          </p:nvPr>
        </p:nvSpPr>
        <p:spPr>
          <a:xfrm>
            <a:off x="664423" y="472200"/>
            <a:ext cx="109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dirty="0"/>
              <a:t>Beat Apathy by Solving One Passionate Problem this Week</a:t>
            </a:r>
            <a:endParaRPr dirty="0"/>
          </a:p>
        </p:txBody>
      </p:sp>
      <p:sp>
        <p:nvSpPr>
          <p:cNvPr id="715" name="Google Shape;715;p85"/>
          <p:cNvSpPr txBox="1"/>
          <p:nvPr/>
        </p:nvSpPr>
        <p:spPr>
          <a:xfrm>
            <a:off x="4514216" y="1559933"/>
            <a:ext cx="31476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Innovation Week</a:t>
            </a:r>
            <a:endParaRPr sz="1500"/>
          </a:p>
        </p:txBody>
      </p:sp>
      <p:cxnSp>
        <p:nvCxnSpPr>
          <p:cNvPr id="716" name="Google Shape;716;p85"/>
          <p:cNvCxnSpPr/>
          <p:nvPr/>
        </p:nvCxnSpPr>
        <p:spPr>
          <a:xfrm>
            <a:off x="1977383" y="2516033"/>
            <a:ext cx="536400" cy="1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7" name="Google Shape;717;p85"/>
          <p:cNvSpPr txBox="1"/>
          <p:nvPr/>
        </p:nvSpPr>
        <p:spPr>
          <a:xfrm>
            <a:off x="740074" y="1559939"/>
            <a:ext cx="7875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Prep</a:t>
            </a:r>
            <a:endParaRPr sz="1500"/>
          </a:p>
        </p:txBody>
      </p:sp>
      <p:grpSp>
        <p:nvGrpSpPr>
          <p:cNvPr id="718" name="Google Shape;718;p85"/>
          <p:cNvGrpSpPr/>
          <p:nvPr/>
        </p:nvGrpSpPr>
        <p:grpSpPr>
          <a:xfrm>
            <a:off x="490932" y="2118874"/>
            <a:ext cx="9066857" cy="2583993"/>
            <a:chOff x="-698548" y="1683831"/>
            <a:chExt cx="9066857" cy="2583993"/>
          </a:xfrm>
        </p:grpSpPr>
        <p:sp>
          <p:nvSpPr>
            <p:cNvPr id="719" name="Google Shape;719;p85"/>
            <p:cNvSpPr/>
            <p:nvPr/>
          </p:nvSpPr>
          <p:spPr>
            <a:xfrm>
              <a:off x="1454124" y="1683831"/>
              <a:ext cx="1316700" cy="847500"/>
            </a:xfrm>
            <a:prstGeom prst="rect">
              <a:avLst/>
            </a:prstGeom>
            <a:solidFill>
              <a:schemeClr val="accent6"/>
            </a:solidFill>
            <a:ln w="190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Day 1</a:t>
              </a:r>
              <a:endParaRPr sz="1500"/>
            </a:p>
          </p:txBody>
        </p:sp>
        <p:sp>
          <p:nvSpPr>
            <p:cNvPr id="720" name="Google Shape;720;p85"/>
            <p:cNvSpPr/>
            <p:nvPr/>
          </p:nvSpPr>
          <p:spPr>
            <a:xfrm>
              <a:off x="2853512" y="1683833"/>
              <a:ext cx="1316700" cy="847500"/>
            </a:xfrm>
            <a:prstGeom prst="rect">
              <a:avLst/>
            </a:prstGeom>
            <a:solidFill>
              <a:schemeClr val="accent6"/>
            </a:solidFill>
            <a:ln w="190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Day 2</a:t>
              </a:r>
              <a:endParaRPr sz="1500"/>
            </a:p>
          </p:txBody>
        </p:sp>
        <p:sp>
          <p:nvSpPr>
            <p:cNvPr id="721" name="Google Shape;721;p85"/>
            <p:cNvSpPr/>
            <p:nvPr/>
          </p:nvSpPr>
          <p:spPr>
            <a:xfrm>
              <a:off x="4252867" y="1686365"/>
              <a:ext cx="1316700" cy="847500"/>
            </a:xfrm>
            <a:prstGeom prst="rect">
              <a:avLst/>
            </a:prstGeom>
            <a:solidFill>
              <a:schemeClr val="accent6"/>
            </a:solidFill>
            <a:ln w="190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Day 3</a:t>
              </a:r>
              <a:endParaRPr sz="1500"/>
            </a:p>
          </p:txBody>
        </p:sp>
        <p:sp>
          <p:nvSpPr>
            <p:cNvPr id="722" name="Google Shape;722;p85"/>
            <p:cNvSpPr/>
            <p:nvPr/>
          </p:nvSpPr>
          <p:spPr>
            <a:xfrm>
              <a:off x="5652221" y="1686365"/>
              <a:ext cx="1316700" cy="847500"/>
            </a:xfrm>
            <a:prstGeom prst="rect">
              <a:avLst/>
            </a:prstGeom>
            <a:solidFill>
              <a:schemeClr val="accent6"/>
            </a:solidFill>
            <a:ln w="190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Day 4</a:t>
              </a:r>
              <a:endParaRPr sz="1500"/>
            </a:p>
          </p:txBody>
        </p:sp>
        <p:sp>
          <p:nvSpPr>
            <p:cNvPr id="723" name="Google Shape;723;p85"/>
            <p:cNvSpPr/>
            <p:nvPr/>
          </p:nvSpPr>
          <p:spPr>
            <a:xfrm>
              <a:off x="7051609" y="1686365"/>
              <a:ext cx="1316700" cy="847500"/>
            </a:xfrm>
            <a:prstGeom prst="rect">
              <a:avLst/>
            </a:prstGeom>
            <a:solidFill>
              <a:schemeClr val="accent6"/>
            </a:solidFill>
            <a:ln w="190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Day 5</a:t>
              </a:r>
              <a:endParaRPr sz="1500"/>
            </a:p>
          </p:txBody>
        </p:sp>
        <p:sp>
          <p:nvSpPr>
            <p:cNvPr id="724" name="Google Shape;724;p85"/>
            <p:cNvSpPr/>
            <p:nvPr/>
          </p:nvSpPr>
          <p:spPr>
            <a:xfrm>
              <a:off x="1454136" y="2625923"/>
              <a:ext cx="6914100" cy="1641900"/>
            </a:xfrm>
            <a:prstGeom prst="rect">
              <a:avLst/>
            </a:prstGeom>
            <a:solidFill>
              <a:schemeClr val="accent4"/>
            </a:solidFill>
            <a:ln w="12700" cap="flat" cmpd="sng">
              <a:solidFill>
                <a:schemeClr val="accent6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Paired Learning with Current Work:</a:t>
              </a:r>
              <a:endParaRPr sz="1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Give a team 5 days of hands-on-coaching with their real work, not abstract tutorials.</a:t>
              </a:r>
              <a:endParaRPr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725" name="Google Shape;725;p85"/>
            <p:cNvSpPr/>
            <p:nvPr/>
          </p:nvSpPr>
          <p:spPr>
            <a:xfrm>
              <a:off x="-698548" y="1683831"/>
              <a:ext cx="1316700" cy="8475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dk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Learning &amp; Setup</a:t>
              </a:r>
              <a:endParaRPr sz="1300"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726" name="Google Shape;726;p85"/>
            <p:cNvSpPr/>
            <p:nvPr/>
          </p:nvSpPr>
          <p:spPr>
            <a:xfrm>
              <a:off x="-698548" y="2625924"/>
              <a:ext cx="1316700" cy="1641900"/>
            </a:xfrm>
            <a:prstGeom prst="rect">
              <a:avLst/>
            </a:prstGeom>
            <a:solidFill>
              <a:schemeClr val="accent4"/>
            </a:solidFill>
            <a:ln w="9525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48775" tIns="0" rIns="48775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Find at least one annoying bottleneck</a:t>
              </a:r>
              <a:endParaRPr sz="1300"/>
            </a:p>
          </p:txBody>
        </p:sp>
      </p:grpSp>
      <p:sp>
        <p:nvSpPr>
          <p:cNvPr id="727" name="Google Shape;727;p85"/>
          <p:cNvSpPr txBox="1"/>
          <p:nvPr/>
        </p:nvSpPr>
        <p:spPr>
          <a:xfrm>
            <a:off x="10648874" y="1559939"/>
            <a:ext cx="7875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End</a:t>
            </a:r>
            <a:endParaRPr sz="1500"/>
          </a:p>
        </p:txBody>
      </p:sp>
      <p:sp>
        <p:nvSpPr>
          <p:cNvPr id="728" name="Google Shape;728;p85"/>
          <p:cNvSpPr/>
          <p:nvPr/>
        </p:nvSpPr>
        <p:spPr>
          <a:xfrm>
            <a:off x="10384283" y="2121408"/>
            <a:ext cx="1316700" cy="2583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Showcase</a:t>
            </a:r>
            <a:endParaRPr sz="1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Share what works &amp; doesn’t</a:t>
            </a:r>
            <a:endParaRPr sz="1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29" name="Google Shape;729;p85"/>
          <p:cNvCxnSpPr/>
          <p:nvPr/>
        </p:nvCxnSpPr>
        <p:spPr>
          <a:xfrm>
            <a:off x="9702817" y="2516033"/>
            <a:ext cx="536400" cy="1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714;p85">
            <a:extLst>
              <a:ext uri="{FF2B5EF4-FFF2-40B4-BE49-F238E27FC236}">
                <a16:creationId xmlns:a16="http://schemas.microsoft.com/office/drawing/2014/main" id="{93B9D72D-435D-2AA9-6809-D4F9A006B930}"/>
              </a:ext>
            </a:extLst>
          </p:cNvPr>
          <p:cNvSpPr txBox="1">
            <a:spLocks/>
          </p:cNvSpPr>
          <p:nvPr/>
        </p:nvSpPr>
        <p:spPr>
          <a:xfrm>
            <a:off x="490932" y="5803699"/>
            <a:ext cx="10971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 pitchFamily="34" charset="0"/>
              <a:buNone/>
              <a:defRPr sz="2400" b="1" i="0" kern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Financier Display" panose="02020503070506060203" pitchFamily="18" charset="77"/>
                <a:ea typeface="+mn-ea"/>
                <a:cs typeface="+mn-cs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en-US" dirty="0"/>
              <a:t>This is offered as an engagement to our clients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0"/>
          <p:cNvSpPr txBox="1">
            <a:spLocks noGrp="1"/>
          </p:cNvSpPr>
          <p:nvPr>
            <p:ph type="title" idx="4294967295"/>
          </p:nvPr>
        </p:nvSpPr>
        <p:spPr>
          <a:xfrm>
            <a:off x="382700" y="3158713"/>
            <a:ext cx="3467700" cy="7704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500"/>
              <a:t>Accelerating Internal AI Adoption</a:t>
            </a:r>
            <a:endParaRPr sz="2500"/>
          </a:p>
        </p:txBody>
      </p:sp>
      <p:sp>
        <p:nvSpPr>
          <p:cNvPr id="801" name="Google Shape;801;p90"/>
          <p:cNvSpPr txBox="1">
            <a:spLocks noGrp="1"/>
          </p:cNvSpPr>
          <p:nvPr>
            <p:ph type="body" idx="4294967295"/>
          </p:nvPr>
        </p:nvSpPr>
        <p:spPr>
          <a:xfrm>
            <a:off x="4539821" y="3155355"/>
            <a:ext cx="3140100" cy="787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>
                <a:latin typeface="Poppins"/>
                <a:ea typeface="Poppins"/>
                <a:cs typeface="Poppins"/>
                <a:sym typeface="Poppins"/>
              </a:rPr>
              <a:t>Building AI into our Products</a:t>
            </a:r>
            <a:endParaRPr sz="25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2" name="Google Shape;802;p90"/>
          <p:cNvSpPr txBox="1">
            <a:spLocks noGrp="1"/>
          </p:cNvSpPr>
          <p:nvPr>
            <p:ph type="body" idx="4294967295"/>
          </p:nvPr>
        </p:nvSpPr>
        <p:spPr>
          <a:xfrm>
            <a:off x="8530583" y="3150330"/>
            <a:ext cx="3140100" cy="787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>
                <a:latin typeface="Poppins"/>
                <a:ea typeface="Poppins"/>
                <a:cs typeface="Poppins"/>
                <a:sym typeface="Poppins"/>
              </a:rPr>
              <a:t>Empowering Client AI Usage</a:t>
            </a:r>
            <a:endParaRPr sz="25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3" name="Google Shape;803;p90"/>
          <p:cNvSpPr txBox="1">
            <a:spLocks noGrp="1"/>
          </p:cNvSpPr>
          <p:nvPr>
            <p:ph type="body" idx="4294967295"/>
          </p:nvPr>
        </p:nvSpPr>
        <p:spPr>
          <a:xfrm>
            <a:off x="385308" y="632401"/>
            <a:ext cx="10868400" cy="45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Beat 2 — We build it</a:t>
            </a:r>
            <a:endParaRPr sz="49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4" name="Google Shape;804;p90"/>
          <p:cNvSpPr/>
          <p:nvPr/>
        </p:nvSpPr>
        <p:spPr>
          <a:xfrm>
            <a:off x="385300" y="394783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5" name="Google Shape;805;p90"/>
          <p:cNvSpPr/>
          <p:nvPr/>
        </p:nvSpPr>
        <p:spPr>
          <a:xfrm>
            <a:off x="4378617" y="395087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6" name="Google Shape;806;p90"/>
          <p:cNvSpPr/>
          <p:nvPr/>
        </p:nvSpPr>
        <p:spPr>
          <a:xfrm>
            <a:off x="8369367" y="394783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7" name="Google Shape;807;p90"/>
          <p:cNvSpPr txBox="1">
            <a:spLocks noGrp="1"/>
          </p:cNvSpPr>
          <p:nvPr>
            <p:ph type="body" idx="4294967295"/>
          </p:nvPr>
        </p:nvSpPr>
        <p:spPr>
          <a:xfrm>
            <a:off x="8369367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Enable our clients to leverage AI effectively through our products and supporting initiatives.</a:t>
            </a:r>
            <a:endParaRPr sz="1700"/>
          </a:p>
        </p:txBody>
      </p:sp>
      <p:sp>
        <p:nvSpPr>
          <p:cNvPr id="808" name="Google Shape;808;p90"/>
          <p:cNvSpPr txBox="1">
            <a:spLocks noGrp="1"/>
          </p:cNvSpPr>
          <p:nvPr>
            <p:ph type="body" idx="4294967295"/>
          </p:nvPr>
        </p:nvSpPr>
        <p:spPr>
          <a:xfrm>
            <a:off x="385300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Coaches help teams use AI tools to increase productivity and engagement with AI.</a:t>
            </a:r>
            <a:endParaRPr sz="1700"/>
          </a:p>
        </p:txBody>
      </p:sp>
      <p:sp>
        <p:nvSpPr>
          <p:cNvPr id="809" name="Google Shape;809;p90"/>
          <p:cNvSpPr txBox="1">
            <a:spLocks noGrp="1"/>
          </p:cNvSpPr>
          <p:nvPr>
            <p:ph type="body" idx="4294967295"/>
          </p:nvPr>
        </p:nvSpPr>
        <p:spPr>
          <a:xfrm>
            <a:off x="4378633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Help our product teams build GenAI into our products to make better experiences for our clients.</a:t>
            </a:r>
            <a:endParaRPr sz="1700"/>
          </a:p>
        </p:txBody>
      </p:sp>
      <p:pic>
        <p:nvPicPr>
          <p:cNvPr id="810" name="Google Shape;810;p90" descr="Badge 1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843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90" descr="Badge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1366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90" descr="Badge 3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15899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90"/>
          <p:cNvSpPr/>
          <p:nvPr/>
        </p:nvSpPr>
        <p:spPr>
          <a:xfrm>
            <a:off x="8188900" y="1831925"/>
            <a:ext cx="4002900" cy="38829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4" name="Google Shape;814;p90"/>
          <p:cNvSpPr/>
          <p:nvPr/>
        </p:nvSpPr>
        <p:spPr>
          <a:xfrm>
            <a:off x="117700" y="1702475"/>
            <a:ext cx="4002900" cy="38829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01"/>
          <p:cNvSpPr txBox="1">
            <a:spLocks noGrp="1"/>
          </p:cNvSpPr>
          <p:nvPr>
            <p:ph type="title"/>
          </p:nvPr>
        </p:nvSpPr>
        <p:spPr>
          <a:xfrm>
            <a:off x="731652" y="2158223"/>
            <a:ext cx="4714991" cy="254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oppins"/>
              <a:buNone/>
            </a:pPr>
            <a:r>
              <a:rPr lang="en-US" sz="4400">
                <a:solidFill>
                  <a:schemeClr val="lt1"/>
                </a:solidFill>
              </a:rPr>
              <a:t>Where Is Jack Henry Taking Our Products?</a:t>
            </a:r>
            <a:endParaRPr sz="4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8" name="Google Shape;104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9043" y="152400"/>
            <a:ext cx="6440556" cy="6427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3"/>
          <p:cNvSpPr txBox="1">
            <a:spLocks noGrp="1"/>
          </p:cNvSpPr>
          <p:nvPr>
            <p:ph type="body" idx="1"/>
          </p:nvPr>
        </p:nvSpPr>
        <p:spPr>
          <a:xfrm>
            <a:off x="664434" y="403949"/>
            <a:ext cx="1099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</a:rPr>
              <a:t>Internal Trials: Service Advisor Agents – Step 1</a:t>
            </a:r>
            <a:endParaRPr sz="2400">
              <a:solidFill>
                <a:schemeClr val="dk2"/>
              </a:solidFill>
            </a:endParaRPr>
          </a:p>
        </p:txBody>
      </p:sp>
      <p:grpSp>
        <p:nvGrpSpPr>
          <p:cNvPr id="1075" name="Google Shape;1075;p103"/>
          <p:cNvGrpSpPr/>
          <p:nvPr/>
        </p:nvGrpSpPr>
        <p:grpSpPr>
          <a:xfrm>
            <a:off x="4113919" y="1074477"/>
            <a:ext cx="7544008" cy="4709059"/>
            <a:chOff x="2420938" y="1558492"/>
            <a:chExt cx="7348536" cy="4545424"/>
          </a:xfrm>
        </p:grpSpPr>
        <p:pic>
          <p:nvPicPr>
            <p:cNvPr id="1076" name="Google Shape;1076;p103"/>
            <p:cNvPicPr preferRelativeResize="0"/>
            <p:nvPr/>
          </p:nvPicPr>
          <p:blipFill rotWithShape="1">
            <a:blip r:embed="rId3">
              <a:alphaModFix/>
            </a:blip>
            <a:srcRect t="29607" b="11000"/>
            <a:stretch/>
          </p:blipFill>
          <p:spPr>
            <a:xfrm>
              <a:off x="2420938" y="2030680"/>
              <a:ext cx="7348536" cy="40732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103"/>
            <p:cNvPicPr preferRelativeResize="0"/>
            <p:nvPr/>
          </p:nvPicPr>
          <p:blipFill rotWithShape="1">
            <a:blip r:embed="rId3">
              <a:alphaModFix/>
            </a:blip>
            <a:srcRect b="93115"/>
            <a:stretch/>
          </p:blipFill>
          <p:spPr>
            <a:xfrm>
              <a:off x="2420938" y="1558492"/>
              <a:ext cx="7348536" cy="4721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8" name="Google Shape;1078;p103"/>
          <p:cNvSpPr txBox="1"/>
          <p:nvPr/>
        </p:nvSpPr>
        <p:spPr>
          <a:xfrm>
            <a:off x="18288000" y="1318534"/>
            <a:ext cx="3181800" cy="47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14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14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sz="14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Rounded Rectangle 1078"/>
          <p:cNvSpPr/>
          <p:nvPr/>
        </p:nvSpPr>
        <p:spPr>
          <a:xfrm>
            <a:off x="667512" y="1316736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Rectangle 1079"/>
          <p:cNvSpPr/>
          <p:nvPr/>
        </p:nvSpPr>
        <p:spPr>
          <a:xfrm>
            <a:off x="667512" y="1316736"/>
            <a:ext cx="109728" cy="1463040"/>
          </a:xfrm>
          <a:prstGeom prst="rect">
            <a:avLst/>
          </a:prstGeom>
          <a:solidFill>
            <a:srgbClr val="085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Rectangle 1080"/>
          <p:cNvSpPr/>
          <p:nvPr/>
        </p:nvSpPr>
        <p:spPr>
          <a:xfrm>
            <a:off x="914400" y="1426464"/>
            <a:ext cx="2834640" cy="347472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085CE5"/>
                </a:solidFill>
                <a:latin typeface="Poppins"/>
              </a:rPr>
              <a:t>WHO</a:t>
            </a:r>
          </a:p>
        </p:txBody>
      </p:sp>
      <p:sp>
        <p:nvSpPr>
          <p:cNvPr id="1082" name="Rectangle 1081"/>
          <p:cNvSpPr/>
          <p:nvPr/>
        </p:nvSpPr>
        <p:spPr>
          <a:xfrm>
            <a:off x="914400" y="1773936"/>
            <a:ext cx="2834640" cy="868680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300" b="0">
                <a:solidFill>
                  <a:srgbClr val="06185F"/>
                </a:solidFill>
                <a:latin typeface="Playfair Display"/>
              </a:rPr>
              <a:t>Jack Henry technical support reps</a:t>
            </a:r>
          </a:p>
        </p:txBody>
      </p:sp>
      <p:sp>
        <p:nvSpPr>
          <p:cNvPr id="1083" name="Rounded Rectangle 1082"/>
          <p:cNvSpPr/>
          <p:nvPr/>
        </p:nvSpPr>
        <p:spPr>
          <a:xfrm>
            <a:off x="667512" y="2926080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4" name="Rectangle 1083"/>
          <p:cNvSpPr/>
          <p:nvPr/>
        </p:nvSpPr>
        <p:spPr>
          <a:xfrm>
            <a:off x="667512" y="2926080"/>
            <a:ext cx="109728" cy="146304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5" name="Rectangle 1084"/>
          <p:cNvSpPr/>
          <p:nvPr/>
        </p:nvSpPr>
        <p:spPr>
          <a:xfrm>
            <a:off x="914400" y="3035808"/>
            <a:ext cx="2834640" cy="347472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06185F"/>
                </a:solidFill>
                <a:latin typeface="Poppins"/>
              </a:rPr>
              <a:t>GUARDRAIL</a:t>
            </a:r>
          </a:p>
        </p:txBody>
      </p:sp>
      <p:sp>
        <p:nvSpPr>
          <p:cNvPr id="1086" name="Rectangle 1085"/>
          <p:cNvSpPr/>
          <p:nvPr/>
        </p:nvSpPr>
        <p:spPr>
          <a:xfrm>
            <a:off x="914400" y="3383280"/>
            <a:ext cx="2834640" cy="868680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300" b="0">
                <a:solidFill>
                  <a:srgbClr val="06185F"/>
                </a:solidFill>
                <a:latin typeface="Playfair Display"/>
              </a:rPr>
              <a:t>Internal only — until accuracy is high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667512" y="4535424"/>
            <a:ext cx="3246120" cy="1463040"/>
          </a:xfrm>
          <a:prstGeom prst="roundRect">
            <a:avLst>
              <a:gd name="adj" fmla="val 8000"/>
            </a:avLst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8" name="Rectangle 1087"/>
          <p:cNvSpPr/>
          <p:nvPr/>
        </p:nvSpPr>
        <p:spPr>
          <a:xfrm>
            <a:off x="667512" y="4535424"/>
            <a:ext cx="109728" cy="1463040"/>
          </a:xfrm>
          <a:prstGeom prst="rect">
            <a:avLst/>
          </a:prstGeom>
          <a:solidFill>
            <a:srgbClr val="085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9" name="Rectangle 1088"/>
          <p:cNvSpPr/>
          <p:nvPr/>
        </p:nvSpPr>
        <p:spPr>
          <a:xfrm>
            <a:off x="914400" y="4645152"/>
            <a:ext cx="2834640" cy="347472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1">
                <a:solidFill>
                  <a:srgbClr val="085CE5"/>
                </a:solidFill>
                <a:latin typeface="Poppins"/>
              </a:rPr>
              <a:t>FEEDBACK LOOP</a:t>
            </a:r>
          </a:p>
        </p:txBody>
      </p:sp>
      <p:sp>
        <p:nvSpPr>
          <p:cNvPr id="1090" name="Rectangle 1089"/>
          <p:cNvSpPr/>
          <p:nvPr/>
        </p:nvSpPr>
        <p:spPr>
          <a:xfrm>
            <a:off x="914400" y="4992624"/>
            <a:ext cx="2834640" cy="868680"/>
          </a:xfrm>
          <a:prstGeom prst="rect">
            <a:avLst/>
          </a:prstGeom>
          <a:solidFill>
            <a:srgbClr val="E8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300" b="0">
                <a:solidFill>
                  <a:srgbClr val="06185F"/>
                </a:solidFill>
                <a:latin typeface="Playfair Display"/>
              </a:rPr>
              <a:t>Reps update the knowledge base when the answer isn’t sufficient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06"/>
          <p:cNvSpPr txBox="1">
            <a:spLocks noGrp="1"/>
          </p:cNvSpPr>
          <p:nvPr>
            <p:ph type="body" idx="1"/>
          </p:nvPr>
        </p:nvSpPr>
        <p:spPr>
          <a:xfrm>
            <a:off x="664434" y="472188"/>
            <a:ext cx="1099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</a:rPr>
              <a:t>Closed Beta: Auto-suggested Replies - Banno Conversations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102" name="Google Shape;1102;p106"/>
          <p:cNvSpPr txBox="1"/>
          <p:nvPr/>
        </p:nvSpPr>
        <p:spPr>
          <a:xfrm>
            <a:off x="664435" y="1386773"/>
            <a:ext cx="3951000" cy="47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customer asks a question in the Conversation</a:t>
            </a:r>
            <a:endParaRPr sz="12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considers the question, consults its database of bank policies, and suggests a response</a:t>
            </a:r>
            <a:endParaRPr sz="14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With one click the rep can accept that response and make more edits</a:t>
            </a:r>
            <a:endParaRPr sz="1400" b="0" i="0" u="none" strike="noStrike" cap="none">
              <a:solidFill>
                <a:srgbClr val="0618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3" name="Google Shape;1103;p106"/>
          <p:cNvPicPr preferRelativeResize="0"/>
          <p:nvPr/>
        </p:nvPicPr>
        <p:blipFill rotWithShape="1">
          <a:blip r:embed="rId3">
            <a:alphaModFix/>
          </a:blip>
          <a:srcRect l="36865" t="62796" r="19080"/>
          <a:stretch/>
        </p:blipFill>
        <p:spPr>
          <a:xfrm>
            <a:off x="4746399" y="1491343"/>
            <a:ext cx="7253288" cy="387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6"/>
          <p:cNvPicPr preferRelativeResize="0"/>
          <p:nvPr/>
        </p:nvPicPr>
        <p:blipFill rotWithShape="1">
          <a:blip r:embed="rId4">
            <a:alphaModFix/>
          </a:blip>
          <a:srcRect l="37014" t="73262" r="51861"/>
          <a:stretch/>
        </p:blipFill>
        <p:spPr>
          <a:xfrm>
            <a:off x="4746399" y="2688663"/>
            <a:ext cx="2031119" cy="267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106"/>
          <p:cNvPicPr preferRelativeResize="0"/>
          <p:nvPr/>
        </p:nvPicPr>
        <p:blipFill rotWithShape="1">
          <a:blip r:embed="rId5">
            <a:alphaModFix/>
          </a:blip>
          <a:srcRect l="36615" t="64804" r="19217"/>
          <a:stretch/>
        </p:blipFill>
        <p:spPr>
          <a:xfrm>
            <a:off x="4746399" y="1491343"/>
            <a:ext cx="7253288" cy="3875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11"/>
          <p:cNvSpPr txBox="1">
            <a:spLocks noGrp="1"/>
          </p:cNvSpPr>
          <p:nvPr>
            <p:ph type="title" idx="4294967295"/>
          </p:nvPr>
        </p:nvSpPr>
        <p:spPr>
          <a:xfrm>
            <a:off x="382700" y="3158713"/>
            <a:ext cx="3467700" cy="7704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2500"/>
              <a:t>Accelerating Internal AI Adoption</a:t>
            </a:r>
            <a:endParaRPr sz="2500"/>
          </a:p>
        </p:txBody>
      </p:sp>
      <p:sp>
        <p:nvSpPr>
          <p:cNvPr id="1144" name="Google Shape;1144;p111"/>
          <p:cNvSpPr txBox="1">
            <a:spLocks noGrp="1"/>
          </p:cNvSpPr>
          <p:nvPr>
            <p:ph type="body" idx="4294967295"/>
          </p:nvPr>
        </p:nvSpPr>
        <p:spPr>
          <a:xfrm>
            <a:off x="4539821" y="3155355"/>
            <a:ext cx="3140100" cy="787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>
                <a:latin typeface="Poppins"/>
                <a:ea typeface="Poppins"/>
                <a:cs typeface="Poppins"/>
                <a:sym typeface="Poppins"/>
              </a:rPr>
              <a:t>Building AI into our Products</a:t>
            </a:r>
            <a:endParaRPr sz="25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5" name="Google Shape;1145;p111"/>
          <p:cNvSpPr txBox="1">
            <a:spLocks noGrp="1"/>
          </p:cNvSpPr>
          <p:nvPr>
            <p:ph type="body" idx="4294967295"/>
          </p:nvPr>
        </p:nvSpPr>
        <p:spPr>
          <a:xfrm>
            <a:off x="8530583" y="3150330"/>
            <a:ext cx="3140100" cy="787200"/>
          </a:xfrm>
          <a:prstGeom prst="rect">
            <a:avLst/>
          </a:prstGeom>
        </p:spPr>
        <p:txBody>
          <a:bodyPr spcFirstLastPara="1" wrap="square" lIns="0" tIns="121900" rIns="0" bIns="121900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>
                <a:latin typeface="Poppins"/>
                <a:ea typeface="Poppins"/>
                <a:cs typeface="Poppins"/>
                <a:sym typeface="Poppins"/>
              </a:rPr>
              <a:t>Empowering Client AI Usage</a:t>
            </a:r>
            <a:endParaRPr sz="25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6" name="Google Shape;1146;p111"/>
          <p:cNvSpPr txBox="1">
            <a:spLocks noGrp="1"/>
          </p:cNvSpPr>
          <p:nvPr>
            <p:ph type="body" idx="4294967295"/>
          </p:nvPr>
        </p:nvSpPr>
        <p:spPr>
          <a:xfrm>
            <a:off x="385308" y="632401"/>
            <a:ext cx="10868400" cy="45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Beat 3 — You get it in the product</a:t>
            </a:r>
            <a:endParaRPr sz="49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7" name="Google Shape;1147;p111"/>
          <p:cNvSpPr/>
          <p:nvPr/>
        </p:nvSpPr>
        <p:spPr>
          <a:xfrm>
            <a:off x="385300" y="394783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48" name="Google Shape;1148;p111"/>
          <p:cNvSpPr/>
          <p:nvPr/>
        </p:nvSpPr>
        <p:spPr>
          <a:xfrm>
            <a:off x="4378617" y="395087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49" name="Google Shape;1149;p111"/>
          <p:cNvSpPr/>
          <p:nvPr/>
        </p:nvSpPr>
        <p:spPr>
          <a:xfrm>
            <a:off x="8369367" y="3947835"/>
            <a:ext cx="3462300" cy="2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50" name="Google Shape;1150;p111"/>
          <p:cNvSpPr txBox="1">
            <a:spLocks noGrp="1"/>
          </p:cNvSpPr>
          <p:nvPr>
            <p:ph type="body" idx="4294967295"/>
          </p:nvPr>
        </p:nvSpPr>
        <p:spPr>
          <a:xfrm>
            <a:off x="8369367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Enable our clients to leverage AI effectively through our products and supporting initiatives.</a:t>
            </a:r>
            <a:endParaRPr sz="1700"/>
          </a:p>
        </p:txBody>
      </p:sp>
      <p:sp>
        <p:nvSpPr>
          <p:cNvPr id="1151" name="Google Shape;1151;p111"/>
          <p:cNvSpPr txBox="1">
            <a:spLocks noGrp="1"/>
          </p:cNvSpPr>
          <p:nvPr>
            <p:ph type="body" idx="4294967295"/>
          </p:nvPr>
        </p:nvSpPr>
        <p:spPr>
          <a:xfrm>
            <a:off x="385300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Coaches help teams use AI tools to increase productivity and engagement with AI.</a:t>
            </a:r>
            <a:endParaRPr sz="1700"/>
          </a:p>
        </p:txBody>
      </p:sp>
      <p:sp>
        <p:nvSpPr>
          <p:cNvPr id="1152" name="Google Shape;1152;p111"/>
          <p:cNvSpPr txBox="1">
            <a:spLocks noGrp="1"/>
          </p:cNvSpPr>
          <p:nvPr>
            <p:ph type="body" idx="4294967295"/>
          </p:nvPr>
        </p:nvSpPr>
        <p:spPr>
          <a:xfrm>
            <a:off x="4378633" y="4010987"/>
            <a:ext cx="3467700" cy="11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/>
              <a:t>Help our product teams build GenAI into our products to make better experiences for our clients.</a:t>
            </a:r>
            <a:endParaRPr sz="1700"/>
          </a:p>
        </p:txBody>
      </p:sp>
      <p:pic>
        <p:nvPicPr>
          <p:cNvPr id="1153" name="Google Shape;1153;p111" descr="Badge 1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6843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4" name="Google Shape;1154;p111" descr="Badge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1366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1" descr="Badge 3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15899" y="1989674"/>
            <a:ext cx="969264" cy="96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111"/>
          <p:cNvSpPr/>
          <p:nvPr/>
        </p:nvSpPr>
        <p:spPr>
          <a:xfrm>
            <a:off x="4324138" y="1702475"/>
            <a:ext cx="4002900" cy="38829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57" name="Google Shape;1157;p111"/>
          <p:cNvSpPr/>
          <p:nvPr/>
        </p:nvSpPr>
        <p:spPr>
          <a:xfrm>
            <a:off x="117700" y="1702475"/>
            <a:ext cx="4002900" cy="3882900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09"/>
          <p:cNvSpPr txBox="1">
            <a:spLocks noGrp="1"/>
          </p:cNvSpPr>
          <p:nvPr>
            <p:ph type="body" idx="1"/>
          </p:nvPr>
        </p:nvSpPr>
        <p:spPr>
          <a:xfrm>
            <a:off x="541696" y="1090719"/>
            <a:ext cx="41148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Playfair Display"/>
                <a:ea typeface="Playfair Display"/>
                <a:cs typeface="Playfair Display"/>
                <a:sym typeface="Playfair Display"/>
              </a:rPr>
              <a:t>Not every client is the same</a:t>
            </a:r>
            <a:endParaRPr sz="2400"/>
          </a:p>
        </p:txBody>
      </p:sp>
      <p:sp>
        <p:nvSpPr>
          <p:cNvPr id="1128" name="Google Shape;1128;p109"/>
          <p:cNvSpPr txBox="1">
            <a:spLocks noGrp="1"/>
          </p:cNvSpPr>
          <p:nvPr>
            <p:ph type="body" idx="3"/>
          </p:nvPr>
        </p:nvSpPr>
        <p:spPr>
          <a:xfrm>
            <a:off x="541696" y="428246"/>
            <a:ext cx="527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 sz="3200" b="1">
                <a:solidFill>
                  <a:schemeClr val="dk2"/>
                </a:solidFill>
              </a:rPr>
              <a:t>You’re Still in Control</a:t>
            </a:r>
            <a:endParaRPr sz="3200" b="1">
              <a:solidFill>
                <a:schemeClr val="dk2"/>
              </a:solidFill>
            </a:endParaRPr>
          </a:p>
        </p:txBody>
      </p:sp>
      <p:sp>
        <p:nvSpPr>
          <p:cNvPr id="1129" name="Google Shape;1129;p109"/>
          <p:cNvSpPr txBox="1">
            <a:spLocks noGrp="1"/>
          </p:cNvSpPr>
          <p:nvPr>
            <p:ph type="body" idx="4294967295"/>
          </p:nvPr>
        </p:nvSpPr>
        <p:spPr>
          <a:xfrm>
            <a:off x="18288000" y="2289882"/>
            <a:ext cx="51573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6257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endParaRPr/>
          </a:p>
          <a:p>
            <a:pPr marL="576257" lvl="1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Char char="•"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2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130" name="Google Shape;1130;p109" descr="How to Check and Reset a Tripped Breaker | Happy Hiller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586" t="3570" r="18580" b="4880"/>
          <a:stretch/>
        </p:blipFill>
        <p:spPr>
          <a:xfrm>
            <a:off x="6069000" y="0"/>
            <a:ext cx="6123000" cy="59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Rounded Rectangle 1130"/>
          <p:cNvSpPr/>
          <p:nvPr/>
        </p:nvSpPr>
        <p:spPr>
          <a:xfrm>
            <a:off x="539496" y="219456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2" name="Oval 1131"/>
          <p:cNvSpPr/>
          <p:nvPr/>
        </p:nvSpPr>
        <p:spPr>
          <a:xfrm>
            <a:off x="704088" y="2359152"/>
            <a:ext cx="384048" cy="384048"/>
          </a:xfrm>
          <a:prstGeom prst="ellipse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6185F"/>
                </a:solidFill>
                <a:latin typeface="Poppins"/>
              </a:rPr>
              <a:t>01</a:t>
            </a:r>
          </a:p>
        </p:txBody>
      </p:sp>
      <p:sp>
        <p:nvSpPr>
          <p:cNvPr id="1133" name="Rectangle 1132"/>
          <p:cNvSpPr/>
          <p:nvPr/>
        </p:nvSpPr>
        <p:spPr>
          <a:xfrm>
            <a:off x="704088" y="2834639"/>
            <a:ext cx="2148840" cy="41148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Which capabilities</a:t>
            </a:r>
          </a:p>
        </p:txBody>
      </p:sp>
      <p:sp>
        <p:nvSpPr>
          <p:cNvPr id="1134" name="Rectangle 1133"/>
          <p:cNvSpPr/>
          <p:nvPr/>
        </p:nvSpPr>
        <p:spPr>
          <a:xfrm>
            <a:off x="704088" y="3246120"/>
            <a:ext cx="2148840" cy="45720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76DCFD"/>
                </a:solidFill>
                <a:latin typeface="Playfair Display"/>
              </a:rPr>
              <a:t>Adopt first, on your timeline</a:t>
            </a:r>
          </a:p>
        </p:txBody>
      </p:sp>
      <p:sp>
        <p:nvSpPr>
          <p:cNvPr id="1135" name="Rounded Rectangle 1134"/>
          <p:cNvSpPr/>
          <p:nvPr/>
        </p:nvSpPr>
        <p:spPr>
          <a:xfrm>
            <a:off x="3127248" y="219456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6" name="Oval 1135"/>
          <p:cNvSpPr/>
          <p:nvPr/>
        </p:nvSpPr>
        <p:spPr>
          <a:xfrm>
            <a:off x="3291840" y="2359152"/>
            <a:ext cx="384048" cy="384048"/>
          </a:xfrm>
          <a:prstGeom prst="ellipse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6185F"/>
                </a:solidFill>
                <a:latin typeface="Poppins"/>
              </a:rPr>
              <a:t>02</a:t>
            </a:r>
          </a:p>
        </p:txBody>
      </p:sp>
      <p:sp>
        <p:nvSpPr>
          <p:cNvPr id="1137" name="Rectangle 1136"/>
          <p:cNvSpPr/>
          <p:nvPr/>
        </p:nvSpPr>
        <p:spPr>
          <a:xfrm>
            <a:off x="3291840" y="2834639"/>
            <a:ext cx="2148840" cy="41148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How fast you move</a:t>
            </a:r>
          </a:p>
        </p:txBody>
      </p:sp>
      <p:sp>
        <p:nvSpPr>
          <p:cNvPr id="1138" name="Rectangle 1137"/>
          <p:cNvSpPr/>
          <p:nvPr/>
        </p:nvSpPr>
        <p:spPr>
          <a:xfrm>
            <a:off x="3291840" y="3246120"/>
            <a:ext cx="2148840" cy="45720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76DCFD"/>
                </a:solidFill>
                <a:latin typeface="Playfair Display"/>
              </a:rPr>
              <a:t>Crawl, walk, or run — you choose</a:t>
            </a:r>
          </a:p>
        </p:txBody>
      </p:sp>
      <p:sp>
        <p:nvSpPr>
          <p:cNvPr id="1139" name="Rounded Rectangle 1138"/>
          <p:cNvSpPr/>
          <p:nvPr/>
        </p:nvSpPr>
        <p:spPr>
          <a:xfrm>
            <a:off x="539496" y="406908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0" name="Oval 1139"/>
          <p:cNvSpPr/>
          <p:nvPr/>
        </p:nvSpPr>
        <p:spPr>
          <a:xfrm>
            <a:off x="704088" y="4233672"/>
            <a:ext cx="384048" cy="384048"/>
          </a:xfrm>
          <a:prstGeom prst="ellipse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6185F"/>
                </a:solidFill>
                <a:latin typeface="Poppins"/>
              </a:rPr>
              <a:t>03</a:t>
            </a:r>
          </a:p>
        </p:txBody>
      </p:sp>
      <p:sp>
        <p:nvSpPr>
          <p:cNvPr id="1141" name="Rectangle 1140"/>
          <p:cNvSpPr/>
          <p:nvPr/>
        </p:nvSpPr>
        <p:spPr>
          <a:xfrm>
            <a:off x="704088" y="4709160"/>
            <a:ext cx="2148840" cy="41148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What guardrails</a:t>
            </a:r>
          </a:p>
        </p:txBody>
      </p:sp>
      <p:sp>
        <p:nvSpPr>
          <p:cNvPr id="1142" name="Rectangle 1141"/>
          <p:cNvSpPr/>
          <p:nvPr/>
        </p:nvSpPr>
        <p:spPr>
          <a:xfrm>
            <a:off x="704088" y="5120640"/>
            <a:ext cx="2148840" cy="45720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76DCFD"/>
                </a:solidFill>
                <a:latin typeface="Playfair Display"/>
              </a:rPr>
              <a:t>Controls matched to your risk</a:t>
            </a:r>
          </a:p>
        </p:txBody>
      </p:sp>
      <p:sp>
        <p:nvSpPr>
          <p:cNvPr id="1143" name="Rounded Rectangle 1142"/>
          <p:cNvSpPr/>
          <p:nvPr/>
        </p:nvSpPr>
        <p:spPr>
          <a:xfrm>
            <a:off x="3127248" y="4069080"/>
            <a:ext cx="2468880" cy="1691640"/>
          </a:xfrm>
          <a:prstGeom prst="roundRect">
            <a:avLst>
              <a:gd name="adj" fmla="val 8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4" name="Oval 1143"/>
          <p:cNvSpPr/>
          <p:nvPr/>
        </p:nvSpPr>
        <p:spPr>
          <a:xfrm>
            <a:off x="3291840" y="4233672"/>
            <a:ext cx="384048" cy="384048"/>
          </a:xfrm>
          <a:prstGeom prst="ellipse">
            <a:avLst/>
          </a:prstGeom>
          <a:solidFill>
            <a:srgbClr val="48D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06185F"/>
                </a:solidFill>
                <a:latin typeface="Poppins"/>
              </a:rPr>
              <a:t>04</a:t>
            </a:r>
          </a:p>
        </p:txBody>
      </p:sp>
      <p:sp>
        <p:nvSpPr>
          <p:cNvPr id="1145" name="Rectangle 1144"/>
          <p:cNvSpPr/>
          <p:nvPr/>
        </p:nvSpPr>
        <p:spPr>
          <a:xfrm>
            <a:off x="3291840" y="4709160"/>
            <a:ext cx="2148840" cy="41148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Which data &amp; tools</a:t>
            </a:r>
          </a:p>
        </p:txBody>
      </p:sp>
      <p:sp>
        <p:nvSpPr>
          <p:cNvPr id="1146" name="Rectangle 1145"/>
          <p:cNvSpPr/>
          <p:nvPr/>
        </p:nvSpPr>
        <p:spPr>
          <a:xfrm>
            <a:off x="3291840" y="5120640"/>
            <a:ext cx="2148840" cy="457200"/>
          </a:xfrm>
          <a:prstGeom prst="rect">
            <a:avLst/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76DCFD"/>
                </a:solidFill>
                <a:latin typeface="Playfair Display"/>
              </a:rPr>
              <a:t>AI only sees what you allow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12"/>
          <p:cNvSpPr/>
          <p:nvPr/>
        </p:nvSpPr>
        <p:spPr>
          <a:xfrm>
            <a:off x="170250" y="1561988"/>
            <a:ext cx="11851500" cy="97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Poppins"/>
                <a:ea typeface="Poppins"/>
                <a:cs typeface="Poppins"/>
                <a:sym typeface="Poppins"/>
              </a:rPr>
              <a:t>Identity &amp; Access</a:t>
            </a:r>
            <a:endParaRPr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4" name="Google Shape;1164;p112"/>
          <p:cNvSpPr/>
          <p:nvPr/>
        </p:nvSpPr>
        <p:spPr>
          <a:xfrm>
            <a:off x="170250" y="2762050"/>
            <a:ext cx="11851500" cy="975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AI Fabric</a:t>
            </a:r>
            <a:endParaRPr sz="2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5" name="Google Shape;1165;p112"/>
          <p:cNvSpPr/>
          <p:nvPr/>
        </p:nvSpPr>
        <p:spPr>
          <a:xfrm>
            <a:off x="170250" y="3962125"/>
            <a:ext cx="11851500" cy="1769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Poppins"/>
                <a:ea typeface="Poppins"/>
                <a:cs typeface="Poppins"/>
                <a:sym typeface="Poppins"/>
              </a:rPr>
              <a:t>Mix &amp; </a:t>
            </a:r>
            <a:endParaRPr sz="2000"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Poppins"/>
                <a:ea typeface="Poppins"/>
                <a:cs typeface="Poppins"/>
                <a:sym typeface="Poppins"/>
              </a:rPr>
              <a:t>Match</a:t>
            </a:r>
            <a:endParaRPr sz="2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6" name="Google Shape;1166;p112"/>
          <p:cNvSpPr txBox="1"/>
          <p:nvPr/>
        </p:nvSpPr>
        <p:spPr>
          <a:xfrm>
            <a:off x="254234" y="151721"/>
            <a:ext cx="1099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AI Fabric: Flexible, Secure Foundation for AI</a:t>
            </a:r>
            <a:endParaRPr sz="3100" b="1">
              <a:solidFill>
                <a:srgbClr val="085CE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Customized for your needs, your rules, your data</a:t>
            </a:r>
            <a:endParaRPr sz="20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67" name="Google Shape;1167;p112"/>
          <p:cNvSpPr/>
          <p:nvPr/>
        </p:nvSpPr>
        <p:spPr>
          <a:xfrm>
            <a:off x="5637725" y="1770125"/>
            <a:ext cx="2377500" cy="568800"/>
          </a:xfrm>
          <a:prstGeom prst="roundRect">
            <a:avLst>
              <a:gd name="adj" fmla="val 16667"/>
            </a:avLst>
          </a:prstGeom>
          <a:solidFill>
            <a:srgbClr val="E8F7F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Client Institution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8" name="Google Shape;1168;p112"/>
          <p:cNvSpPr/>
          <p:nvPr/>
        </p:nvSpPr>
        <p:spPr>
          <a:xfrm>
            <a:off x="1864250" y="2965175"/>
            <a:ext cx="3172200" cy="56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Orchestration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9" name="Google Shape;1169;p112"/>
          <p:cNvSpPr/>
          <p:nvPr/>
        </p:nvSpPr>
        <p:spPr>
          <a:xfrm>
            <a:off x="5240380" y="2965175"/>
            <a:ext cx="3172200" cy="56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Guardrails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0" name="Google Shape;1170;p112"/>
          <p:cNvSpPr/>
          <p:nvPr/>
        </p:nvSpPr>
        <p:spPr>
          <a:xfrm>
            <a:off x="8616510" y="2965175"/>
            <a:ext cx="3172200" cy="56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Logging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1" name="Google Shape;1171;p112"/>
          <p:cNvSpPr/>
          <p:nvPr/>
        </p:nvSpPr>
        <p:spPr>
          <a:xfrm>
            <a:off x="1864259" y="4179025"/>
            <a:ext cx="2377500" cy="1335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Your Models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Cloud and/or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Local LLMs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2" name="Google Shape;1172;p112"/>
          <p:cNvSpPr/>
          <p:nvPr/>
        </p:nvSpPr>
        <p:spPr>
          <a:xfrm>
            <a:off x="4379909" y="4179025"/>
            <a:ext cx="2377500" cy="1335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Your Data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Knowledge Bases &amp; Documents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3" name="Google Shape;1173;p112"/>
          <p:cNvSpPr/>
          <p:nvPr/>
        </p:nvSpPr>
        <p:spPr>
          <a:xfrm>
            <a:off x="6895559" y="4179025"/>
            <a:ext cx="2377500" cy="1335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Your Tools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MCP access to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external systems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74" name="Google Shape;1174;p112"/>
          <p:cNvSpPr/>
          <p:nvPr/>
        </p:nvSpPr>
        <p:spPr>
          <a:xfrm>
            <a:off x="9411209" y="4179025"/>
            <a:ext cx="2377500" cy="13359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Your Way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layfair Display"/>
                <a:ea typeface="Playfair Display"/>
                <a:cs typeface="Playfair Display"/>
                <a:sym typeface="Playfair Display"/>
              </a:rPr>
              <a:t>Custom Agents, Prompts &amp; Instructions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75" name="Google Shape;1175;p112" descr="Clipboard Partially Checked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58853" y="2975242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614" y="3001900"/>
            <a:ext cx="4953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8076" y="3001900"/>
            <a:ext cx="5048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112" descr="Database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94332" y="4212135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112" descr="Gears with solid fill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59833" y="4244901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12" descr="Bank with solid fil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66060" y="1770125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112" descr="Compass with solid fill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325630" y="422851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112" descr="Processor with solid fill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778675" y="4228513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17"/>
          <p:cNvSpPr/>
          <p:nvPr/>
        </p:nvSpPr>
        <p:spPr>
          <a:xfrm>
            <a:off x="548640" y="310896"/>
            <a:ext cx="110643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5CE5"/>
              </a:buClr>
              <a:buSzPts val="3100"/>
              <a:buFont typeface="Trebuchet MS"/>
              <a:buNone/>
            </a:pPr>
            <a:r>
              <a:t>How We Can Help</a:t>
            </a:r>
            <a:endParaRPr sz="31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0" name="Google Shape;1280;p117"/>
          <p:cNvSpPr/>
          <p:nvPr/>
        </p:nvSpPr>
        <p:spPr>
          <a:xfrm>
            <a:off x="566928" y="93268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172"/>
              </a:buClr>
              <a:buSzPts val="1500"/>
              <a:buFont typeface="Georgia"/>
              <a:buNone/>
            </a:pPr>
            <a:r>
              <a:rPr lang="en-US" sz="1600" i="1" u="none" strike="noStrike" cap="none">
                <a:solidFill>
                  <a:srgbClr val="5A61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Three integrated service areas across your AI journey.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81" name="Google Shape;1281;p117"/>
          <p:cNvSpPr/>
          <p:nvPr/>
        </p:nvSpPr>
        <p:spPr>
          <a:xfrm>
            <a:off x="640080" y="1828800"/>
            <a:ext cx="3520500" cy="40233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17"/>
          <p:cNvSpPr/>
          <p:nvPr/>
        </p:nvSpPr>
        <p:spPr>
          <a:xfrm>
            <a:off x="1938528" y="2194560"/>
            <a:ext cx="914400" cy="914400"/>
          </a:xfrm>
          <a:prstGeom prst="ellipse">
            <a:avLst/>
          </a:prstGeom>
          <a:solidFill>
            <a:srgbClr val="06185F"/>
          </a:solidFill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117"/>
          <p:cNvSpPr/>
          <p:nvPr/>
        </p:nvSpPr>
        <p:spPr>
          <a:xfrm>
            <a:off x="1938528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lang="en-US" sz="3000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1</a:t>
            </a:r>
            <a:endParaRPr sz="3000" i="0" u="none" strike="noStrike" cap="non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284" name="Google Shape;1284;p117"/>
          <p:cNvSpPr/>
          <p:nvPr/>
        </p:nvSpPr>
        <p:spPr>
          <a:xfrm>
            <a:off x="822960" y="3291840"/>
            <a:ext cx="315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9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Adoption &amp; Coaching</a:t>
            </a:r>
            <a:endParaRPr sz="22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5" name="Google Shape;1285;p117"/>
          <p:cNvSpPr/>
          <p:nvPr/>
        </p:nvSpPr>
        <p:spPr>
          <a:xfrm>
            <a:off x="914400" y="4251960"/>
            <a:ext cx="2972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300"/>
              <a:buFont typeface="Calibri"/>
              <a:buNone/>
            </a:pPr>
            <a:r>
              <a:rPr lang="en-US" sz="1600" i="0" u="none" strike="noStrike" cap="none">
                <a:solidFill>
                  <a:srgbClr val="06185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Building AI-literate cultures through workshops and hands-on enablement.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86" name="Google Shape;1286;p117"/>
          <p:cNvSpPr/>
          <p:nvPr/>
        </p:nvSpPr>
        <p:spPr>
          <a:xfrm>
            <a:off x="4361688" y="1828800"/>
            <a:ext cx="3520500" cy="4023300"/>
          </a:xfrm>
          <a:prstGeom prst="roundRect">
            <a:avLst>
              <a:gd name="adj" fmla="val 3117"/>
            </a:avLst>
          </a:prstGeom>
          <a:solidFill>
            <a:srgbClr val="E8F7F7"/>
          </a:solidFill>
          <a:ln w="19075" cap="flat" cmpd="sng">
            <a:solidFill>
              <a:srgbClr val="E4F7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117"/>
          <p:cNvSpPr/>
          <p:nvPr/>
        </p:nvSpPr>
        <p:spPr>
          <a:xfrm>
            <a:off x="5660136" y="2194560"/>
            <a:ext cx="914400" cy="914400"/>
          </a:xfrm>
          <a:prstGeom prst="ellipse">
            <a:avLst/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117"/>
          <p:cNvSpPr/>
          <p:nvPr/>
        </p:nvSpPr>
        <p:spPr>
          <a:xfrm>
            <a:off x="5660136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lang="en-US" sz="3000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2</a:t>
            </a:r>
            <a:endParaRPr sz="3000" i="0" u="none" strike="noStrike" cap="non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289" name="Google Shape;1289;p117"/>
          <p:cNvSpPr/>
          <p:nvPr/>
        </p:nvSpPr>
        <p:spPr>
          <a:xfrm>
            <a:off x="4544568" y="3291840"/>
            <a:ext cx="315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9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Governance &amp; Policy</a:t>
            </a:r>
            <a:endParaRPr sz="22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0" name="Google Shape;1290;p117"/>
          <p:cNvSpPr/>
          <p:nvPr/>
        </p:nvSpPr>
        <p:spPr>
          <a:xfrm>
            <a:off x="4636008" y="4251960"/>
            <a:ext cx="2972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300"/>
              <a:buFont typeface="Calibri"/>
              <a:buNone/>
            </a:pPr>
            <a:r>
              <a:rPr lang="en-US" sz="1600" i="0" u="none" strike="noStrike" cap="none">
                <a:solidFill>
                  <a:srgbClr val="06185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Establishing guardrails and enterprise AI risk mitigation.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91" name="Google Shape;1291;p117"/>
          <p:cNvSpPr/>
          <p:nvPr/>
        </p:nvSpPr>
        <p:spPr>
          <a:xfrm>
            <a:off x="8083296" y="1828800"/>
            <a:ext cx="3520500" cy="40233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90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117"/>
          <p:cNvSpPr/>
          <p:nvPr/>
        </p:nvSpPr>
        <p:spPr>
          <a:xfrm>
            <a:off x="9381744" y="2194560"/>
            <a:ext cx="914400" cy="914400"/>
          </a:xfrm>
          <a:prstGeom prst="ellipse">
            <a:avLst/>
          </a:prstGeom>
          <a:solidFill>
            <a:srgbClr val="06185F"/>
          </a:solidFill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117"/>
          <p:cNvSpPr/>
          <p:nvPr/>
        </p:nvSpPr>
        <p:spPr>
          <a:xfrm>
            <a:off x="9381744" y="21945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Trebuchet MS"/>
              <a:buNone/>
            </a:pPr>
            <a:r>
              <a:rPr lang="en-US" sz="3000" i="0" u="none" strike="noStrike" cap="none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3</a:t>
            </a:r>
            <a:endParaRPr sz="3000" i="0" u="none" strike="noStrike" cap="none">
              <a:solidFill>
                <a:schemeClr val="dk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294" name="Google Shape;1294;p117"/>
          <p:cNvSpPr/>
          <p:nvPr/>
        </p:nvSpPr>
        <p:spPr>
          <a:xfrm>
            <a:off x="8266176" y="3291840"/>
            <a:ext cx="3154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9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Agents &amp; AI Fabric</a:t>
            </a:r>
            <a:endParaRPr sz="22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5" name="Google Shape;1295;p117"/>
          <p:cNvSpPr/>
          <p:nvPr/>
        </p:nvSpPr>
        <p:spPr>
          <a:xfrm>
            <a:off x="8357616" y="4251960"/>
            <a:ext cx="2972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300"/>
              <a:buFont typeface="Calibri"/>
              <a:buNone/>
            </a:pPr>
            <a:r>
              <a:rPr lang="en-US" sz="1600" i="0" u="none" strike="noStrike" cap="none">
                <a:solidFill>
                  <a:srgbClr val="06185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Seamless environmental integration with the AI Fabric.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118"/>
          <p:cNvSpPr/>
          <p:nvPr/>
        </p:nvSpPr>
        <p:spPr>
          <a:xfrm>
            <a:off x="548640" y="310896"/>
            <a:ext cx="110643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5CE5"/>
              </a:buClr>
              <a:buSzPts val="3100"/>
              <a:buFont typeface="Trebuchet MS"/>
              <a:buNone/>
            </a:pPr>
            <a:r>
              <a:rPr lang="en-US" sz="3100" b="1" i="0" u="none" strike="noStrike" cap="none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How We Partner: The Strategic POD</a:t>
            </a:r>
            <a:endParaRPr sz="31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18"/>
          <p:cNvSpPr/>
          <p:nvPr/>
        </p:nvSpPr>
        <p:spPr>
          <a:xfrm>
            <a:off x="566928" y="93268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172"/>
              </a:buClr>
              <a:buSzPts val="1500"/>
              <a:buFont typeface="Georgia"/>
              <a:buNone/>
            </a:pPr>
            <a:r>
              <a:rPr lang="en-US" sz="1500" b="0" i="1" u="none" strike="noStrike" cap="none">
                <a:solidFill>
                  <a:srgbClr val="5A6172"/>
                </a:solidFill>
                <a:latin typeface="Georgia"/>
                <a:ea typeface="Georgia"/>
                <a:cs typeface="Georgia"/>
                <a:sym typeface="Georgia"/>
              </a:rPr>
              <a:t>High-impact delivery pairing a Strategic Consultant with a dedicated SME.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118"/>
          <p:cNvSpPr/>
          <p:nvPr/>
        </p:nvSpPr>
        <p:spPr>
          <a:xfrm>
            <a:off x="640080" y="1783080"/>
            <a:ext cx="6766500" cy="19203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118"/>
          <p:cNvSpPr/>
          <p:nvPr/>
        </p:nvSpPr>
        <p:spPr>
          <a:xfrm>
            <a:off x="640080" y="1783080"/>
            <a:ext cx="164700" cy="1920300"/>
          </a:xfrm>
          <a:prstGeom prst="roundRect">
            <a:avLst>
              <a:gd name="adj" fmla="val 22222"/>
            </a:avLst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118"/>
          <p:cNvSpPr/>
          <p:nvPr/>
        </p:nvSpPr>
        <p:spPr>
          <a:xfrm>
            <a:off x="1051560" y="2057400"/>
            <a:ext cx="612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5CE5"/>
              </a:buClr>
              <a:buSzPts val="2300"/>
              <a:buFont typeface="Trebuchet MS"/>
              <a:buNone/>
            </a:pPr>
            <a:r>
              <a:rPr lang="en-US" sz="2300" b="1" i="0" u="none" strike="noStrike" cap="none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Consultant</a:t>
            </a:r>
            <a:endParaRPr sz="23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6" name="Google Shape;1306;p118"/>
          <p:cNvSpPr/>
          <p:nvPr/>
        </p:nvSpPr>
        <p:spPr>
          <a:xfrm>
            <a:off x="1051560" y="2697480"/>
            <a:ext cx="6126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500"/>
              <a:buFont typeface="Calibri"/>
              <a:buNone/>
            </a:pPr>
            <a:r>
              <a:rPr lang="en-US" sz="1500" i="0" u="none" strike="noStrike" cap="none">
                <a:solidFill>
                  <a:srgbClr val="06185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Owns commercial alignment, stakeholder management, and value realization.</a:t>
            </a:r>
            <a:endParaRPr sz="15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07" name="Google Shape;1307;p118"/>
          <p:cNvSpPr/>
          <p:nvPr/>
        </p:nvSpPr>
        <p:spPr>
          <a:xfrm>
            <a:off x="640080" y="3931920"/>
            <a:ext cx="6766500" cy="19203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118"/>
          <p:cNvSpPr/>
          <p:nvPr/>
        </p:nvSpPr>
        <p:spPr>
          <a:xfrm>
            <a:off x="640080" y="3931920"/>
            <a:ext cx="164700" cy="1920300"/>
          </a:xfrm>
          <a:prstGeom prst="roundRect">
            <a:avLst>
              <a:gd name="adj" fmla="val 22222"/>
            </a:avLst>
          </a:prstGeom>
          <a:solidFill>
            <a:srgbClr val="06185F"/>
          </a:solidFill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118"/>
          <p:cNvSpPr/>
          <p:nvPr/>
        </p:nvSpPr>
        <p:spPr>
          <a:xfrm>
            <a:off x="1051560" y="4206240"/>
            <a:ext cx="6126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2300"/>
              <a:buFont typeface="Trebuchet MS"/>
              <a:buNone/>
            </a:pPr>
            <a:r>
              <a:rPr lang="en-US" sz="2300" b="1" i="0" u="none" strike="noStrike" cap="none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Coach </a:t>
            </a:r>
            <a:r>
              <a:rPr lang="en-US" sz="2300" b="1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or Engineer</a:t>
            </a:r>
            <a:r>
              <a:rPr lang="en-US" sz="2300" b="1" i="0" u="none" strike="noStrike" cap="none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3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0" name="Google Shape;1310;p118"/>
          <p:cNvSpPr/>
          <p:nvPr/>
        </p:nvSpPr>
        <p:spPr>
          <a:xfrm>
            <a:off x="1051560" y="4846320"/>
            <a:ext cx="61269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500"/>
              <a:buFont typeface="Calibri"/>
              <a:buNone/>
            </a:pPr>
            <a:r>
              <a:rPr lang="en-US" sz="1500" i="0" u="none" strike="noStrike" cap="none">
                <a:solidFill>
                  <a:srgbClr val="06185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Owns technical execution, architecture, and team enablement.</a:t>
            </a:r>
            <a:endParaRPr sz="15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11" name="Google Shape;1311;p118"/>
          <p:cNvSpPr/>
          <p:nvPr/>
        </p:nvSpPr>
        <p:spPr>
          <a:xfrm>
            <a:off x="7680960" y="1783080"/>
            <a:ext cx="3886500" cy="4069200"/>
          </a:xfrm>
          <a:prstGeom prst="roundRect">
            <a:avLst>
              <a:gd name="adj" fmla="val 3294"/>
            </a:avLst>
          </a:prstGeom>
          <a:solidFill>
            <a:srgbClr val="06185F"/>
          </a:solidFill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2" name="Google Shape;1312;p118"/>
          <p:cNvSpPr/>
          <p:nvPr/>
        </p:nvSpPr>
        <p:spPr>
          <a:xfrm>
            <a:off x="7955280" y="2286000"/>
            <a:ext cx="3383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accountable pod.</a:t>
            </a:r>
            <a:endParaRPr sz="24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3" name="Google Shape;1313;p118"/>
          <p:cNvSpPr/>
          <p:nvPr/>
        </p:nvSpPr>
        <p:spPr>
          <a:xfrm>
            <a:off x="7955280" y="3291840"/>
            <a:ext cx="33837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6DCFD"/>
              </a:buClr>
              <a:buSzPts val="1600"/>
              <a:buFont typeface="Georgia"/>
              <a:buNone/>
            </a:pPr>
            <a:r>
              <a:rPr lang="en-US" sz="1600" i="1">
                <a:solidFill>
                  <a:srgbClr val="76DC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coaches</a:t>
            </a:r>
            <a:r>
              <a:rPr lang="en-US" sz="1600" i="1" u="none" strike="noStrike" cap="none">
                <a:solidFill>
                  <a:srgbClr val="76DC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and engineering working side by side — so adoption sticks and value is realized.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19"/>
          <p:cNvSpPr/>
          <p:nvPr/>
        </p:nvSpPr>
        <p:spPr>
          <a:xfrm>
            <a:off x="548640" y="310896"/>
            <a:ext cx="110643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5CE5"/>
              </a:buClr>
              <a:buSzPts val="3100"/>
              <a:buFont typeface="Trebuchet MS"/>
              <a:buNone/>
            </a:pPr>
            <a:r>
              <a:rPr lang="en-US" sz="3100" b="1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Sample Flexible Roadmap</a:t>
            </a:r>
            <a:endParaRPr sz="31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9" name="Google Shape;1319;p119"/>
          <p:cNvSpPr/>
          <p:nvPr/>
        </p:nvSpPr>
        <p:spPr>
          <a:xfrm>
            <a:off x="566928" y="93268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A6172"/>
              </a:buClr>
              <a:buSzPts val="1500"/>
              <a:buFont typeface="Georgia"/>
              <a:buNone/>
            </a:pPr>
            <a:r>
              <a:rPr lang="en-US" sz="1600" i="1">
                <a:solidFill>
                  <a:srgbClr val="5A61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Focused engagement - from first experiment to measurable value.</a:t>
            </a:r>
            <a:endParaRPr sz="1600" i="0" u="none" strike="noStrike" cap="non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20" name="Google Shape;1320;p119"/>
          <p:cNvSpPr/>
          <p:nvPr/>
        </p:nvSpPr>
        <p:spPr>
          <a:xfrm>
            <a:off x="637633" y="2456716"/>
            <a:ext cx="2133600" cy="3048000"/>
          </a:xfrm>
          <a:prstGeom prst="roundRect">
            <a:avLst>
              <a:gd name="adj" fmla="val 4285"/>
            </a:avLst>
          </a:prstGeom>
          <a:solidFill>
            <a:srgbClr val="E8F7F7"/>
          </a:solidFill>
          <a:ln w="19075" cap="flat" cmpd="sng">
            <a:solidFill>
              <a:srgbClr val="E4F7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19"/>
          <p:cNvSpPr/>
          <p:nvPr/>
        </p:nvSpPr>
        <p:spPr>
          <a:xfrm>
            <a:off x="637633" y="2456716"/>
            <a:ext cx="2133600" cy="110100"/>
          </a:xfrm>
          <a:prstGeom prst="roundRect">
            <a:avLst>
              <a:gd name="adj" fmla="val 32332"/>
            </a:avLst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19"/>
          <p:cNvSpPr/>
          <p:nvPr/>
        </p:nvSpPr>
        <p:spPr>
          <a:xfrm>
            <a:off x="790033" y="2621143"/>
            <a:ext cx="1828800" cy="31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WEEK 1</a:t>
            </a:r>
            <a:endParaRPr sz="1200" b="0">
              <a:solidFill>
                <a:srgbClr val="085C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3" name="Google Shape;1323;p119"/>
          <p:cNvSpPr/>
          <p:nvPr/>
        </p:nvSpPr>
        <p:spPr>
          <a:xfrm>
            <a:off x="790033" y="3011033"/>
            <a:ext cx="1828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Innovation Week</a:t>
            </a:r>
            <a:endParaRPr sz="1700" b="1">
              <a:solidFill>
                <a:srgbClr val="06185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4" name="Google Shape;1324;p119"/>
          <p:cNvSpPr/>
          <p:nvPr/>
        </p:nvSpPr>
        <p:spPr>
          <a:xfrm>
            <a:off x="790033" y="3963533"/>
            <a:ext cx="1828800" cy="12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Prep → Day 1 → Day 5 → Showcase. Every person solves one real bottleneck.</a:t>
            </a:r>
            <a:endParaRPr sz="1200" b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25" name="Google Shape;1325;p119"/>
          <p:cNvSpPr/>
          <p:nvPr/>
        </p:nvSpPr>
        <p:spPr>
          <a:xfrm>
            <a:off x="2834733" y="2456716"/>
            <a:ext cx="2133600" cy="3048000"/>
          </a:xfrm>
          <a:prstGeom prst="roundRect">
            <a:avLst>
              <a:gd name="adj" fmla="val 4285"/>
            </a:avLst>
          </a:prstGeom>
          <a:solidFill>
            <a:srgbClr val="E8F7F7"/>
          </a:solidFill>
          <a:ln w="19075" cap="flat" cmpd="sng">
            <a:solidFill>
              <a:srgbClr val="E4F7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119"/>
          <p:cNvSpPr/>
          <p:nvPr/>
        </p:nvSpPr>
        <p:spPr>
          <a:xfrm>
            <a:off x="2834733" y="2456716"/>
            <a:ext cx="2133600" cy="110100"/>
          </a:xfrm>
          <a:prstGeom prst="roundRect">
            <a:avLst>
              <a:gd name="adj" fmla="val 32332"/>
            </a:avLst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119"/>
          <p:cNvSpPr/>
          <p:nvPr/>
        </p:nvSpPr>
        <p:spPr>
          <a:xfrm>
            <a:off x="2987133" y="2621143"/>
            <a:ext cx="1828800" cy="31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WEEK 2</a:t>
            </a:r>
            <a:endParaRPr sz="1200" b="0">
              <a:solidFill>
                <a:srgbClr val="085C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8" name="Google Shape;1328;p119"/>
          <p:cNvSpPr/>
          <p:nvPr/>
        </p:nvSpPr>
        <p:spPr>
          <a:xfrm>
            <a:off x="2987133" y="3011033"/>
            <a:ext cx="1828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Adv. Prompting</a:t>
            </a:r>
            <a:endParaRPr sz="1700" b="1">
              <a:solidFill>
                <a:srgbClr val="06185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9" name="Google Shape;1329;p119"/>
          <p:cNvSpPr/>
          <p:nvPr/>
        </p:nvSpPr>
        <p:spPr>
          <a:xfrm>
            <a:off x="2987133" y="3963533"/>
            <a:ext cx="1828800" cy="12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Level up prompting skills and kick off the AI Accelerator on a priority use case.</a:t>
            </a:r>
            <a:endParaRPr sz="1200" b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30" name="Google Shape;1330;p119"/>
          <p:cNvSpPr/>
          <p:nvPr/>
        </p:nvSpPr>
        <p:spPr>
          <a:xfrm>
            <a:off x="5031833" y="2456716"/>
            <a:ext cx="2133600" cy="3048000"/>
          </a:xfrm>
          <a:prstGeom prst="roundRect">
            <a:avLst>
              <a:gd name="adj" fmla="val 4285"/>
            </a:avLst>
          </a:prstGeom>
          <a:solidFill>
            <a:srgbClr val="E8F7F7"/>
          </a:solidFill>
          <a:ln w="19075" cap="flat" cmpd="sng">
            <a:solidFill>
              <a:srgbClr val="E4F7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119"/>
          <p:cNvSpPr/>
          <p:nvPr/>
        </p:nvSpPr>
        <p:spPr>
          <a:xfrm>
            <a:off x="5031833" y="2456716"/>
            <a:ext cx="2133600" cy="110100"/>
          </a:xfrm>
          <a:prstGeom prst="roundRect">
            <a:avLst>
              <a:gd name="adj" fmla="val 32332"/>
            </a:avLst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19"/>
          <p:cNvSpPr/>
          <p:nvPr/>
        </p:nvSpPr>
        <p:spPr>
          <a:xfrm>
            <a:off x="5184233" y="2621143"/>
            <a:ext cx="1828800" cy="31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085CE5"/>
                </a:solidFill>
                <a:latin typeface="Poppins"/>
                <a:ea typeface="Poppins"/>
                <a:cs typeface="Poppins"/>
                <a:sym typeface="Poppins"/>
              </a:rPr>
              <a:t>WEEK 3</a:t>
            </a:r>
            <a:endParaRPr sz="1200" b="0">
              <a:solidFill>
                <a:srgbClr val="085CE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3" name="Google Shape;1333;p119"/>
          <p:cNvSpPr/>
          <p:nvPr/>
        </p:nvSpPr>
        <p:spPr>
          <a:xfrm>
            <a:off x="5184233" y="3011033"/>
            <a:ext cx="1828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AI </a:t>
            </a:r>
            <a:endParaRPr sz="1700" b="1">
              <a:solidFill>
                <a:srgbClr val="06185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6185F"/>
                </a:solidFill>
                <a:latin typeface="Poppins"/>
                <a:ea typeface="Poppins"/>
                <a:cs typeface="Poppins"/>
                <a:sym typeface="Poppins"/>
              </a:rPr>
              <a:t>Accelerator</a:t>
            </a:r>
            <a:endParaRPr sz="1700" b="1">
              <a:solidFill>
                <a:srgbClr val="06185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4" name="Google Shape;1334;p119"/>
          <p:cNvSpPr/>
          <p:nvPr/>
        </p:nvSpPr>
        <p:spPr>
          <a:xfrm>
            <a:off x="5184233" y="3963533"/>
            <a:ext cx="1828800" cy="12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Build, iterate, and apply — turning use cases into working tools.</a:t>
            </a:r>
            <a:endParaRPr sz="1200" b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35" name="Google Shape;1335;p119"/>
          <p:cNvSpPr/>
          <p:nvPr/>
        </p:nvSpPr>
        <p:spPr>
          <a:xfrm>
            <a:off x="7228933" y="2456716"/>
            <a:ext cx="2133600" cy="3048000"/>
          </a:xfrm>
          <a:prstGeom prst="roundRect">
            <a:avLst>
              <a:gd name="adj" fmla="val 4285"/>
            </a:avLst>
          </a:prstGeom>
          <a:solidFill>
            <a:srgbClr val="E8F7F7"/>
          </a:solidFill>
          <a:ln w="19075" cap="flat" cmpd="sng">
            <a:solidFill>
              <a:srgbClr val="E4F7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119"/>
          <p:cNvSpPr/>
          <p:nvPr/>
        </p:nvSpPr>
        <p:spPr>
          <a:xfrm>
            <a:off x="7228933" y="2456716"/>
            <a:ext cx="2133600" cy="110100"/>
          </a:xfrm>
          <a:prstGeom prst="roundRect">
            <a:avLst>
              <a:gd name="adj" fmla="val 32332"/>
            </a:avLst>
          </a:prstGeom>
          <a:solidFill>
            <a:schemeClr val="lt2"/>
          </a:solidFill>
          <a:ln w="127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19"/>
          <p:cNvSpPr/>
          <p:nvPr/>
        </p:nvSpPr>
        <p:spPr>
          <a:xfrm>
            <a:off x="7381333" y="2621143"/>
            <a:ext cx="1828800" cy="31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WEEK 4–5</a:t>
            </a:r>
            <a:endParaRPr sz="1200" b="0">
              <a:solidFill>
                <a:srgbClr val="76DC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8" name="Google Shape;1338;p119"/>
          <p:cNvSpPr/>
          <p:nvPr/>
        </p:nvSpPr>
        <p:spPr>
          <a:xfrm>
            <a:off x="7381333" y="3011033"/>
            <a:ext cx="1828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Optional</a:t>
            </a:r>
            <a:endParaRPr sz="17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9" name="Google Shape;1339;p119"/>
          <p:cNvSpPr/>
          <p:nvPr/>
        </p:nvSpPr>
        <p:spPr>
          <a:xfrm>
            <a:off x="7381333" y="3963533"/>
            <a:ext cx="1828800" cy="12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 agents, or governance or enhanced engagement.</a:t>
            </a:r>
            <a:endParaRPr sz="1200" b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340" name="Google Shape;1340;p119"/>
          <p:cNvSpPr/>
          <p:nvPr/>
        </p:nvSpPr>
        <p:spPr>
          <a:xfrm>
            <a:off x="9426033" y="2456716"/>
            <a:ext cx="2133600" cy="3048000"/>
          </a:xfrm>
          <a:prstGeom prst="roundRect">
            <a:avLst>
              <a:gd name="adj" fmla="val 4285"/>
            </a:avLst>
          </a:prstGeom>
          <a:solidFill>
            <a:srgbClr val="06185F"/>
          </a:solidFill>
          <a:ln w="19075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119"/>
          <p:cNvSpPr/>
          <p:nvPr/>
        </p:nvSpPr>
        <p:spPr>
          <a:xfrm>
            <a:off x="9426033" y="2456716"/>
            <a:ext cx="2133600" cy="110100"/>
          </a:xfrm>
          <a:prstGeom prst="roundRect">
            <a:avLst>
              <a:gd name="adj" fmla="val 32332"/>
            </a:avLst>
          </a:prstGeom>
          <a:solidFill>
            <a:srgbClr val="085CE5"/>
          </a:solidFill>
          <a:ln w="12700" cap="flat" cmpd="sng">
            <a:solidFill>
              <a:srgbClr val="085C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19"/>
          <p:cNvSpPr/>
          <p:nvPr/>
        </p:nvSpPr>
        <p:spPr>
          <a:xfrm>
            <a:off x="609600" y="1711000"/>
            <a:ext cx="10972800" cy="640500"/>
          </a:xfrm>
          <a:prstGeom prst="roundRect">
            <a:avLst>
              <a:gd name="adj" fmla="val 8696"/>
            </a:avLst>
          </a:prstGeom>
          <a:solidFill>
            <a:schemeClr val="lt1"/>
          </a:solidFill>
          <a:ln w="12700" cap="flat" cmpd="sng">
            <a:solidFill>
              <a:srgbClr val="0618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119"/>
          <p:cNvSpPr/>
          <p:nvPr/>
        </p:nvSpPr>
        <p:spPr>
          <a:xfrm>
            <a:off x="9578433" y="2621143"/>
            <a:ext cx="1828800" cy="31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WEEK 6</a:t>
            </a:r>
            <a:endParaRPr sz="1200" b="0">
              <a:solidFill>
                <a:srgbClr val="76DC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4" name="Google Shape;1344;p119"/>
          <p:cNvSpPr/>
          <p:nvPr/>
        </p:nvSpPr>
        <p:spPr>
          <a:xfrm>
            <a:off x="1217600" y="1802587"/>
            <a:ext cx="1014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6DCFD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Week</a:t>
            </a:r>
            <a:r>
              <a:rPr lang="en-US" sz="1500" b="1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 0</a:t>
            </a:r>
            <a:r>
              <a:rPr lang="en-US" sz="1500" b="1" i="0" u="none" strike="noStrike" cap="none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1500" b="1">
                <a:solidFill>
                  <a:srgbClr val="76DCFD"/>
                </a:solidFill>
                <a:latin typeface="Poppins"/>
                <a:ea typeface="Poppins"/>
                <a:cs typeface="Poppins"/>
                <a:sym typeface="Poppins"/>
              </a:rPr>
              <a:t>Assessment - Figure out what you need and how long it will take.</a:t>
            </a:r>
            <a:endParaRPr sz="15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6DCFD"/>
              </a:buClr>
              <a:buSzPts val="1500"/>
              <a:buFont typeface="Trebuchet MS"/>
              <a:buNone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Determine your maturity level, enroll in training, onboard the team. </a:t>
            </a:r>
            <a:endParaRPr sz="150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5" name="Google Shape;1345;p119"/>
          <p:cNvSpPr/>
          <p:nvPr/>
        </p:nvSpPr>
        <p:spPr>
          <a:xfrm>
            <a:off x="9578433" y="3011033"/>
            <a:ext cx="1828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Close</a:t>
            </a:r>
            <a:endParaRPr sz="17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6" name="Google Shape;1346;p119"/>
          <p:cNvSpPr/>
          <p:nvPr/>
        </p:nvSpPr>
        <p:spPr>
          <a:xfrm>
            <a:off x="9578433" y="3963533"/>
            <a:ext cx="1828800" cy="126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8100" tIns="38100" rIns="38100" bIns="38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76DC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Showcase results, measure impact.</a:t>
            </a:r>
            <a:endParaRPr sz="1200" b="0">
              <a:solidFill>
                <a:srgbClr val="76DCF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flywheel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RECAP</a:t>
            </a:r>
          </a:p>
        </p:txBody>
      </p:sp>
      <p:sp>
        <p:nvSpPr>
          <p:cNvPr id="544" name="Google Shape;544;p74"/>
          <p:cNvSpPr txBox="1">
            <a:spLocks noGrp="1"/>
          </p:cNvSpPr>
          <p:nvPr>
            <p:ph type="ctrTitle"/>
          </p:nvPr>
        </p:nvSpPr>
        <p:spPr>
          <a:xfrm>
            <a:off x="505377" y="2349500"/>
            <a:ext cx="10286400" cy="19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Poppins"/>
              <a:buNone/>
            </a:pPr>
            <a:r>
              <a:rPr lang="en-US" sz="7100"/>
              <a:t>Coaches build capability → Products embed AI → Clients adopt in product → Coaching scales best practices</a:t>
            </a:r>
            <a:endParaRPr/>
          </a:p>
        </p:txBody>
      </p:sp>
      <p:sp>
        <p:nvSpPr>
          <p:cNvPr id="546" name="Google Shape;546;p74"/>
          <p:cNvSpPr/>
          <p:nvPr/>
        </p:nvSpPr>
        <p:spPr>
          <a:xfrm>
            <a:off x="8400000" y="914375"/>
            <a:ext cx="5029200" cy="5029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01 Coaches</a:t>
            </a:r>
            <a:endParaRPr sz="15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47" name="Google Shape;547;p74"/>
          <p:cNvSpPr/>
          <p:nvPr/>
        </p:nvSpPr>
        <p:spPr>
          <a:xfrm>
            <a:off x="9647049" y="2085963"/>
            <a:ext cx="2535092" cy="2686033"/>
          </a:xfrm>
          <a:custGeom>
            <a:avLst/>
            <a:gdLst/>
            <a:ahLst/>
            <a:cxnLst/>
            <a:rect l="l" t="t" r="r" b="b"/>
            <a:pathLst>
              <a:path w="1877846" h="1901616" extrusionOk="0">
                <a:moveTo>
                  <a:pt x="0" y="0"/>
                </a:moveTo>
                <a:lnTo>
                  <a:pt x="1877846" y="0"/>
                </a:lnTo>
                <a:lnTo>
                  <a:pt x="1877846" y="1901617"/>
                </a:lnTo>
                <a:lnTo>
                  <a:pt x="0" y="1901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85F"/>
              </a:buClr>
              <a:buSzPts val="1900"/>
              <a:buFont typeface="Playfair Display"/>
              <a:buNone/>
            </a:pPr>
            <a:r>
              <a:t>02 Products</a:t>
            </a:r>
            <a:endParaRPr sz="1900" b="0" i="0" u="none" strike="noStrike" cap="none">
              <a:solidFill>
                <a:srgbClr val="06185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6092F-5C71-87F5-D118-2AFF511643A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03 Clients</a:t>
            </a:r>
            <a:endParaRPr lang="en-US"/>
          </a:p>
        </p:txBody>
      </p:sp>
      <p:sp>
        <p:nvSpPr>
          <p:cNvPr id="548" name="Rectangle 547"/>
          <p:cNvSpPr/>
          <p:nvPr/>
        </p:nvSpPr>
        <p:spPr>
          <a:xfrm>
            <a:off x="502920" y="4343400"/>
            <a:ext cx="7772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t>04 Coaching</a:t>
            </a:r>
          </a:p>
        </p:txBody>
      </p:sp>
      <p:sp>
        <p:nvSpPr>
          <p:cNvPr id="549" name="Rounded Rectangle 548"/>
          <p:cNvSpPr/>
          <p:nvPr/>
        </p:nvSpPr>
        <p:spPr>
          <a:xfrm>
            <a:off x="50292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0" name="Rounded Rectangle 549"/>
          <p:cNvSpPr/>
          <p:nvPr/>
        </p:nvSpPr>
        <p:spPr>
          <a:xfrm>
            <a:off x="233172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1" name="Rounded Rectangle 550"/>
          <p:cNvSpPr/>
          <p:nvPr/>
        </p:nvSpPr>
        <p:spPr>
          <a:xfrm>
            <a:off x="4343400" y="507492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061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20"/>
          <p:cNvSpPr txBox="1">
            <a:spLocks noGrp="1"/>
          </p:cNvSpPr>
          <p:nvPr>
            <p:ph type="body" idx="1"/>
          </p:nvPr>
        </p:nvSpPr>
        <p:spPr>
          <a:xfrm>
            <a:off x="771035" y="3206856"/>
            <a:ext cx="8823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/>
              <a:t>Questions</a:t>
            </a:r>
            <a:endParaRPr/>
          </a:p>
        </p:txBody>
      </p:sp>
      <p:sp>
        <p:nvSpPr>
          <p:cNvPr id="1353" name="Google Shape;1353;p120"/>
          <p:cNvSpPr txBox="1"/>
          <p:nvPr/>
        </p:nvSpPr>
        <p:spPr>
          <a:xfrm>
            <a:off x="1076950" y="4058149"/>
            <a:ext cx="101688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</a:pPr>
            <a:r>
              <a:rPr sz="1800" b="0">
                <a:solidFill>
                  <a:srgbClr val="06185F"/>
                </a:solidFill>
                <a:latin typeface="Playfair Display"/>
              </a:rPr>
              <a:t>Mike Ames  ·  data@jackhenry.com</a:t>
            </a:r>
            <a:endParaRPr sz="2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54" name="Google Shape;1354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48510" y="2188937"/>
            <a:ext cx="2480125" cy="24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Jack Henry PPT Template and Footer">
  <a:themeElements>
    <a:clrScheme name="Custom 4">
      <a:dk1>
        <a:srgbClr val="06185F"/>
      </a:dk1>
      <a:lt1>
        <a:srgbClr val="FFFFFF"/>
      </a:lt1>
      <a:dk2>
        <a:srgbClr val="085CE5"/>
      </a:dk2>
      <a:lt2>
        <a:srgbClr val="E8F7F7"/>
      </a:lt2>
      <a:accent1>
        <a:srgbClr val="76DCFD"/>
      </a:accent1>
      <a:accent2>
        <a:srgbClr val="E4F7F7"/>
      </a:accent2>
      <a:accent3>
        <a:srgbClr val="085CE5"/>
      </a:accent3>
      <a:accent4>
        <a:srgbClr val="FFFFFF"/>
      </a:accent4>
      <a:accent5>
        <a:srgbClr val="085CE5"/>
      </a:accent5>
      <a:accent6>
        <a:srgbClr val="031464"/>
      </a:accent6>
      <a:hlink>
        <a:srgbClr val="48DEFE"/>
      </a:hlink>
      <a:folHlink>
        <a:srgbClr val="48DEFE"/>
      </a:folHlink>
    </a:clrScheme>
    <a:fontScheme name="Test">
      <a:majorFont>
        <a:latin typeface="Poppins"/>
        <a:ea typeface=""/>
        <a:cs typeface=""/>
      </a:majorFont>
      <a:minorFont>
        <a:latin typeface="Playfai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-PresentationTemplate-SlideNumbers (1)" id="{ADCACE03-C67F-004C-8F70-C24FD80DBDCF}" vid="{4BAE0993-A9A9-4A4E-AD01-DC9D664D94AD}"/>
    </a:ext>
  </a:extLst>
</a:theme>
</file>

<file path=ppt/theme/theme2.xml><?xml version="1.0" encoding="utf-8"?>
<a:theme xmlns:a="http://schemas.openxmlformats.org/drawingml/2006/main" name="Jack Henry PPT Template">
  <a:themeElements>
    <a:clrScheme name="Custom 4">
      <a:dk1>
        <a:srgbClr val="06185F"/>
      </a:dk1>
      <a:lt1>
        <a:srgbClr val="FFFFFF"/>
      </a:lt1>
      <a:dk2>
        <a:srgbClr val="085CE5"/>
      </a:dk2>
      <a:lt2>
        <a:srgbClr val="E8F7F7"/>
      </a:lt2>
      <a:accent1>
        <a:srgbClr val="76DCFD"/>
      </a:accent1>
      <a:accent2>
        <a:srgbClr val="E4F7F7"/>
      </a:accent2>
      <a:accent3>
        <a:srgbClr val="085CE5"/>
      </a:accent3>
      <a:accent4>
        <a:srgbClr val="FFFFFF"/>
      </a:accent4>
      <a:accent5>
        <a:srgbClr val="085CE5"/>
      </a:accent5>
      <a:accent6>
        <a:srgbClr val="031464"/>
      </a:accent6>
      <a:hlink>
        <a:srgbClr val="48DEFE"/>
      </a:hlink>
      <a:folHlink>
        <a:srgbClr val="48DEFE"/>
      </a:folHlink>
    </a:clrScheme>
    <a:fontScheme name="Test">
      <a:majorFont>
        <a:latin typeface="Poppins"/>
        <a:ea typeface=""/>
        <a:cs typeface=""/>
      </a:majorFont>
      <a:minorFont>
        <a:latin typeface="Playfai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H-PresentationTemplate-SlideNumbers (1)" id="{ADCACE03-C67F-004C-8F70-C24FD80DBDCF}" vid="{11C0EAFF-E0E7-CD46-9B26-BF32454823D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256E2A-EA14-A147-8FB7-DDF5E1CD2E69}">
  <we:reference id="WA200005566" version="3.0.0.3" store="Ome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384B3D1819064FBAB0CBF1578C5D29" ma:contentTypeVersion="7" ma:contentTypeDescription="Create a new document." ma:contentTypeScope="" ma:versionID="80778095a6895b5e0d5e027e8158f781">
  <xsd:schema xmlns:xsd="http://www.w3.org/2001/XMLSchema" xmlns:xs="http://www.w3.org/2001/XMLSchema" xmlns:p="http://schemas.microsoft.com/office/2006/metadata/properties" xmlns:ns2="af3ad911-6cc6-4825-8c01-f48ae4359f5a" targetNamespace="http://schemas.microsoft.com/office/2006/metadata/properties" ma:root="true" ma:fieldsID="9dd2f269aac48db6e390a946fe799b88" ns2:_="">
    <xsd:import namespace="af3ad911-6cc6-4825-8c01-f48ae4359f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3ad911-6cc6-4825-8c01-f48ae4359f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A6D211-3A57-4878-837F-5689B8AB37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3ad911-6cc6-4825-8c01-f48ae4359f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89AAFA-401A-4280-8C0F-7759D581DA31}">
  <ds:schemaRefs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af3ad911-6cc6-4825-8c01-f48ae4359f5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FF22C4D-385C-48E9-8666-A580BFC3E0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Jack Henry PPT Template and Footer</Template>
  <TotalTime>6284</TotalTime>
  <Words>4675</Words>
  <Application>Microsoft Macintosh PowerPoint</Application>
  <PresentationFormat>Widescreen</PresentationFormat>
  <Paragraphs>983</Paragraphs>
  <Slides>50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9" baseType="lpstr">
      <vt:lpstr>Arial</vt:lpstr>
      <vt:lpstr>Calibri</vt:lpstr>
      <vt:lpstr>Financier Display</vt:lpstr>
      <vt:lpstr>Gellix</vt:lpstr>
      <vt:lpstr>Georgia</vt:lpstr>
      <vt:lpstr>Material Icons</vt:lpstr>
      <vt:lpstr>Playfair Display</vt:lpstr>
      <vt:lpstr>Playfair Display Medium</vt:lpstr>
      <vt:lpstr>Playfair Display SemiBold</vt:lpstr>
      <vt:lpstr>Poppins</vt:lpstr>
      <vt:lpstr>Poppins Black</vt:lpstr>
      <vt:lpstr>Poppins Bold</vt:lpstr>
      <vt:lpstr>Poppins ExtraBold</vt:lpstr>
      <vt:lpstr>Poppins Medium</vt:lpstr>
      <vt:lpstr>Poppins SemiBold</vt:lpstr>
      <vt:lpstr>Trebuchet MS</vt:lpstr>
      <vt:lpstr>Wingdings</vt:lpstr>
      <vt:lpstr>Jack Henry PPT Template and Footer</vt:lpstr>
      <vt:lpstr>Jack Henry PPT Template</vt:lpstr>
      <vt:lpstr>Jack Henry  Data &amp; AI strategy   Competing in the Age of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@ Jack Henry</vt:lpstr>
      <vt:lpstr>PowerPoint Presentation</vt:lpstr>
      <vt:lpstr>PowerPoint Presentation</vt:lpstr>
      <vt:lpstr>Accelerating Internal AI Adoption</vt:lpstr>
      <vt:lpstr>PowerPoint Presentation</vt:lpstr>
      <vt:lpstr>PowerPoint Presentation</vt:lpstr>
      <vt:lpstr>PowerPoint Presentation</vt:lpstr>
      <vt:lpstr>PowerPoint Presentation</vt:lpstr>
      <vt:lpstr>Accelerating Internal AI Adoption</vt:lpstr>
      <vt:lpstr>PowerPoint Presentation</vt:lpstr>
      <vt:lpstr>AI Fabric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Is Jack Henry Taking Our Products?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Accelerating Internal AI Adoption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Ames</dc:creator>
  <cp:lastModifiedBy>Mike Ames</cp:lastModifiedBy>
  <cp:revision>7</cp:revision>
  <dcterms:created xsi:type="dcterms:W3CDTF">2026-03-02T17:41:47Z</dcterms:created>
  <dcterms:modified xsi:type="dcterms:W3CDTF">2026-08-17T20:33:37Z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0x01010014384B3D1819064FBAB0CBF1578C5D29</vt:lpwstr>
  </property>
</Properties>
</file>